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5f105f5-528e-1bbc-1375-6bef619ea4c5}">
          <p14:sldIdLst>
            <p14:sldId id="256"/>
            <p14:sldId id="257"/>
            <p14:sldId id="258"/>
          </p14:sldIdLst>
        </p14:section>
        <p14:section name="Случайная величина" id="{54f787ba-b33d-ce33-8649-a3c6963b06cf}">
          <p14:sldIdLst>
            <p14:sldId id="259"/>
            <p14:sldId id="260"/>
            <p14:sldId id="261"/>
            <p14:sldId id="262"/>
          </p14:sldIdLst>
        </p14:section>
        <p14:section name="Дискретные величины" id="{8eebc759-f193-4ffa-8c70-18bf82f13175}">
          <p14:sldIdLst>
            <p14:sldId id="263"/>
            <p14:sldId id="264"/>
          </p14:sldIdLst>
        </p14:section>
        <p14:section name="Функция распределения" id="{78f22b51-6829-bbbf-64df-7f28e6491fc3}">
          <p14:sldIdLst>
            <p14:sldId id="265"/>
            <p14:sldId id="266"/>
            <p14:sldId id="267"/>
            <p14:sldId id="268"/>
          </p14:sldIdLst>
        </p14:section>
        <p14:section name="Непрерывные величины" id="{205b3bd2-6af9-d82b-76d3-7b4f9a3ff20d}">
          <p14:sldIdLst>
            <p14:sldId id="269"/>
            <p14:sldId id="270"/>
            <p14:sldId id="271"/>
            <p14:sldId id="272"/>
            <p14:sldId id="273"/>
          </p14:sldIdLst>
        </p14:section>
        <p14:section name="Квантили и данные" id="{e78002c4-cc46-ce93-55b7-50fbad578964}">
          <p14:sldIdLst>
            <p14:sldId id="274"/>
            <p14:sldId id="275"/>
            <p14:sldId id="276"/>
          </p14:sldIdLst>
        </p14:section>
        <p14:section name="Основные распределения" id="{be7bda4b-715d-71f3-97f4-292c16ec1c2b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Распределения в анализе данных" id="{712c89dc-8652-d2e2-ad9e-178474a6b279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  <p14:section name="Итоги" id="{779caeee-8ad6-958a-685f-ae6691fa3111}">
          <p14:sldIdLst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переходим от событий к случайным величинам. Это центральное понятие для всего анализа данных: каждая числовая колонка датасета — наблюдения случайной величины.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колонка таблицы — выборка значений случайной величины. Если знаем распределение, можем отвечать на вопросы о рисках, гарантиях, аномалиях.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случайна не X, а исход. Условие измеримости: {X ≤ x} должно быть событием — в наших задачах выполняется всегда.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англоязычной литературе p(x) = P(X = x) — probability mass function, pmf. В scipy метод pmf.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Логистическая регрессия предсказывает параметр p распределения Бернулли; бинарная кросс-энтропия — минус логарифм вероятности метки по Бернулли (Мёрфи 2.4).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Доказательство отсутствия памяти: e^{-λ(s+t)}/e^{-λs} = e^{-λt}. Единственное непрерывное распределение с этим свойством — непрерывный аналог геометрического.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94415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 ВЕРОЯТНОСТЕЙ · ЛЕКЦИЯ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Случайные величины</a:t>
            </a:r>
            <a:endParaRPr lang="en-US" sz="4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распределения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исхода эксперимента — к числу, от числа — к модели данных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0" y="457200"/>
            <a:ext cx="3108960" cy="3108960"/>
          </a:xfrm>
          <a:prstGeom prst="rect">
            <a:avLst/>
          </a:prstGeom>
          <a:solidFill>
            <a:srgbClr val="D6EEF8"/>
          </a:solidFill>
          <a:ln w="12700">
            <a:solidFill>
              <a:srgbClr val="D6EEF8"/>
            </a:solidFill>
            <a:prstDash val="solid"/>
          </a:ln>
        </p:spPr>
      </p:sp>
      <p:pic>
        <p:nvPicPr>
          <p:cNvPr id="6" name="Image 0" descr="c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0653" y="1783080"/>
            <a:ext cx="2355494" cy="45317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ИТМО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любой результат наблюдения — число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прошлых лекциях мы спрашивали, произошло ли событие. В данных нас интересует, какое число получилось.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67665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4231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4231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запросов на сервер за минуту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24231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дискретная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676656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375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долго?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337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ответа API, мс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3375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непрерывная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6766560" cy="749808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519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 или нет?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2519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кликнул ли пользователь по баннеру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251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или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6766560" cy="749808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663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Насколько ошиблись?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1663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остаток модели регрессии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51663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непрерывная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1325880"/>
            <a:ext cx="3749040" cy="452628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РАСПРЕДЕЛЕНИЕ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1920240"/>
            <a:ext cx="32918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вероятность перегрузки сервера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гарантию «p95 времени ответа ≤ 300 мс»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критерий аномалии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функцию потерь в ML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генерацию синтетических данных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данных в статистике и ML — это выбор распределения.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лекции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10545775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Случайная величина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исхода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89149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03349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 распределения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03349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дискретные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46778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0978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распределения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0978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P(X ≤ x)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4408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18608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18608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непрерывные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62037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76237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Квантили и ECDF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76237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мост к данным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519666" y="2926080"/>
            <a:ext cx="182880" cy="182880"/>
          </a:xfrm>
          <a:prstGeom prst="ellipse">
            <a:avLst/>
          </a:prstGeom>
          <a:solidFill>
            <a:srgbClr val="1F29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33866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распределений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833866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277295" y="2926080"/>
            <a:ext cx="182880" cy="1828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91495" y="2103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данных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и проверка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9377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семинаре всё это моделируем в Python: симуляции, гистограммы, ECDF, подбор распределений.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Случайная величина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Функция, которая превращает исход в число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Случайная величина — это функция исхода</a:t>
            </a:r>
            <a:endParaRPr lang="en-US" sz="2600" dirty="0"/>
          </a:p>
        </p:txBody>
      </p:sp>
      <p:pic>
        <p:nvPicPr>
          <p:cNvPr id="3" name="Image 0" descr="r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058473" cy="5179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48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Случайно выбирается исход ω. Сама X — правило, по которому из исхода получается число.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две монеты, X — число орлов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6692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ω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РР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X(ω)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720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Разные исходы могут дать одно значение: X «сжимает» исход до того, что нас интересует.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949440" y="1371600"/>
            <a:ext cx="4663440" cy="219456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17804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X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01168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P(X = x)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717804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= 1) = P({ОР, РО}) = 2/4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949440" y="3794760"/>
            <a:ext cx="466344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1780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сбивает с толку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17804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«Это не величина, и она не случайна. На самом деле это функция» — Дайзенрот и др., «Математика для ML»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Распределение: как вероятность разложена по значениям</a:t>
            </a:r>
            <a:endParaRPr lang="en-US" sz="2600" dirty="0"/>
          </a:p>
        </p:txBody>
      </p:sp>
      <p:pic>
        <p:nvPicPr>
          <p:cNvPr id="3" name="Image 0" descr="ev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634911" cy="4774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Любой вопрос о X — вопрос о событии, поэтому работают все правила прошлых лекций.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 распределения X: правило, дающее P(X ∈ B) для любого множества B.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35204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77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 распределения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x_i и p_i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дискретные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3794760"/>
            <a:ext cx="3520440" cy="146304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3977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распределения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2628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P(X ≤ x)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любые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46720" y="3794760"/>
            <a:ext cx="35204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3977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4389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F′(x)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непрерывные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языка одного объекта. Лекция — о том, как переходить между ними.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141732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разные величины могут иметь одинаковое распределение: «орёл на монете» и «чётное число на кубике» — обе 0/1 с вероятностью 1/2.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Дискретные и непрерывные случайные величины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93192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Дискретная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значения: конечное или счётное множество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задаётся рядом p_i = P(X = x_i)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= x) может быть &gt; 0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множества — сумма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запросов, ошибок, клик 0/1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8728" y="1371600"/>
            <a:ext cx="5364328" cy="39319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55448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Непрерывная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21945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 заполняют промежуток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задаётся плотностью f(x)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= x) = 0 для любого x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множества — интеграл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ответа, температура, ошибка модели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Бывают и смешанные: время ожидания в очереди равно 0 с положительной вероятностью, а иначе — любое положительное. Для любых величин работает функция распределения.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Дискретные величины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 распределения и его график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 распределения</a:t>
            </a:r>
            <a:endParaRPr lang="en-US" sz="2600" dirty="0"/>
          </a:p>
        </p:txBody>
      </p:sp>
      <p:pic>
        <p:nvPicPr>
          <p:cNvPr id="3" name="Image 0" descr="pmf_n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618817" cy="724571"/>
          </a:xfrm>
          <a:prstGeom prst="rect">
            <a:avLst/>
          </a:prstGeom>
        </p:spPr>
      </p:pic>
      <p:pic>
        <p:nvPicPr>
          <p:cNvPr id="4" name="Image 1" descr="pmf_su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2477414" cy="72420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3108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нормировки: события {X = x_i} несовместны и образуют полную группу.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548640" y="3977640"/>
            <a:ext cx="4572000" cy="214884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3 сервера, p отказа = 0,1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457200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— число отказавших за сутки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983480"/>
          <a:ext cx="4114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68680"/>
                <a:gridCol w="86868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5778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двух кубиков: многоугольник распределения</a:t>
            </a:r>
            <a:endParaRPr lang="en-US" sz="1500" dirty="0"/>
          </a:p>
        </p:txBody>
      </p:sp>
      <p:pic>
        <p:nvPicPr>
          <p:cNvPr id="11" name="Image 2" descr="Ряд распределения суммы двух кубико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83080"/>
            <a:ext cx="6035040" cy="345325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577840" y="5394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≥ 10) = (3 + 2 + 1)/36 = 1/6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распределения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Универсальный способ задать любую случайную величину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распределения</a:t>
            </a:r>
            <a:endParaRPr lang="en-US" sz="2600" dirty="0"/>
          </a:p>
        </p:txBody>
      </p:sp>
      <p:pic>
        <p:nvPicPr>
          <p:cNvPr id="3" name="Image 0" descr="c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140659" cy="6042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Определена для любой случайной величины и полностью задаёт распределение.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5486400" cy="2651760"/>
          </a:xfrm>
          <a:prstGeom prst="rect">
            <a:avLst/>
          </a:prstGeom>
          <a:solidFill>
            <a:srgbClr val="FDE9D3"/>
          </a:solidFill>
          <a:ln w="9525">
            <a:solidFill>
              <a:srgbClr val="FDE9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соглашения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7033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Гмурман и многие задачники: F(x) = P(X &lt; x).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scipy, numpy, R, Мёрфи: F(x) = P(X ≤ x).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курсе берём «≤», чтобы формулы совпадали с кодом. Для непрерывных величин разницы нет; для дискретных отличаются только значения в точках скачков.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40" y="1417320"/>
            <a:ext cx="5120640" cy="43434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20840" y="1600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2011680"/>
            <a:ext cx="4663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0 ≤ F(x) ≤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 не убывает: {X ≤ x₁} ⊆ {X ≤ x₂}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F(−∞) = 0,  F(+∞) = 1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 непрерывна справа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наоборот: любая такая функция — функция распределения какой-то величины.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Вероятности через F: интервалы и скачки</a:t>
            </a:r>
            <a:endParaRPr lang="en-US" sz="2600" dirty="0"/>
          </a:p>
        </p:txBody>
      </p:sp>
      <p:pic>
        <p:nvPicPr>
          <p:cNvPr id="3" name="Image 0" descr="cdf_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354007" cy="5179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194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{X ≤ b} = {X ≤ a} + {a &lt; X ≤ b}, слагаемые несовместны</a:t>
            </a:r>
            <a:endParaRPr lang="en-US" sz="1400" dirty="0"/>
          </a:p>
        </p:txBody>
      </p:sp>
      <p:pic>
        <p:nvPicPr>
          <p:cNvPr id="5" name="Image 1" descr="cdf_ju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4415455" cy="5179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566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точки — высота скачка F. Если F непрерывна в a, то P(X = a) = 0.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48640" y="4434840"/>
            <a:ext cx="5669280" cy="1691640"/>
          </a:xfrm>
          <a:prstGeom prst="rect">
            <a:avLst/>
          </a:prstGeom>
          <a:solidFill>
            <a:srgbClr val="FDE9D3"/>
          </a:solidFill>
          <a:ln w="9525">
            <a:solidFill>
              <a:srgbClr val="FDE9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617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Типичная ошибка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50292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дискретной X: P(a ≤ X ≤ b) ≠ F(b) − F(a).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целочисленной: P(a ≤ X ≤ b) = F(b) − F(a − 1).</a:t>
            </a:r>
            <a:endParaRPr lang="en-US" sz="1400" dirty="0"/>
          </a:p>
        </p:txBody>
      </p:sp>
      <p:pic>
        <p:nvPicPr>
          <p:cNvPr id="10" name="Image 2" descr="Плотность и функция распределения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5120640" cy="217648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9224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непрерывной X разность F(b) − F(a) — площадь под плотностью на (a; 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дискретной величины — ступенчатая</a:t>
            </a:r>
            <a:endParaRPr lang="en-US" sz="2600" dirty="0"/>
          </a:p>
        </p:txBody>
      </p:sp>
      <p:pic>
        <p:nvPicPr>
          <p:cNvPr id="3" name="Image 0" descr="cdf_dis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100316" cy="82161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6060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значениями F постоянна, в точке x_i прыгает на p_i.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429000"/>
            <a:ext cx="4389120" cy="265176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611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 двух кубиков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02336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F(7) = 21/36,  F(4) = 6/36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P(4 &lt; X ≤ 7) = 15/36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P(4 ≤ X ≤ 7) = F(7) − F(3) = 18/36</a:t>
            </a:r>
            <a:endParaRPr lang="en-US" sz="1500" dirty="0"/>
          </a:p>
        </p:txBody>
      </p:sp>
      <p:pic>
        <p:nvPicPr>
          <p:cNvPr id="8" name="Image 1" descr="Ступенчатая функция распределения суммы двух кубиков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309360" cy="36060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Непрерывные величины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распределения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распределения</a:t>
            </a:r>
            <a:endParaRPr lang="en-US" sz="2600" dirty="0"/>
          </a:p>
        </p:txBody>
      </p:sp>
      <p:pic>
        <p:nvPicPr>
          <p:cNvPr id="3" name="Image 0" descr="pdf_de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84314" cy="792236"/>
          </a:xfrm>
          <a:prstGeom prst="rect">
            <a:avLst/>
          </a:prstGeom>
        </p:spPr>
      </p:pic>
      <p:pic>
        <p:nvPicPr>
          <p:cNvPr id="4" name="Image 1" descr="pdf_n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73564"/>
            <a:ext cx="3898636" cy="822350"/>
          </a:xfrm>
          <a:prstGeom prst="rect">
            <a:avLst/>
          </a:prstGeom>
        </p:spPr>
      </p:pic>
      <p:pic>
        <p:nvPicPr>
          <p:cNvPr id="5" name="Image 2" descr="pdf_pro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5643"/>
            <a:ext cx="3354263" cy="845515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548640" y="4709160"/>
            <a:ext cx="5394960" cy="141732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77724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четыре вероятности равны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777240" y="5303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&lt; X &lt; b) = P(a ≤ X &lt; b) = P(a &lt; X ≤ b) = P(a ≤ X ≤ b)</a:t>
            </a:r>
            <a:endParaRPr lang="en-US" sz="1400" dirty="0"/>
          </a:p>
        </p:txBody>
      </p:sp>
      <p:pic>
        <p:nvPicPr>
          <p:cNvPr id="9" name="Image 3" descr="Площадь под плотностью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303520" cy="225421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4343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англоязычной литературе: pdf — probability density function.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— не вероятность</a:t>
            </a:r>
            <a:endParaRPr lang="en-US" sz="2600" dirty="0"/>
          </a:p>
        </p:txBody>
      </p:sp>
      <p:pic>
        <p:nvPicPr>
          <p:cNvPr id="3" name="Image 0" descr="pdf_sma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593214" cy="4963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— «вероятность на единицу длины». Отсюда: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может быть больше 1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f есть размерность: если X в мс, то f — в 1/мс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= x) = 0, но это не «невозможно»: положительную вероятность имеют только интервалы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«Ровно 123 мс» в данных означает P(122,5 ≤ X &lt; 123,5) ≈ f(123) · 1</a:t>
            </a:r>
            <a:endParaRPr lang="en-US" sz="1500" dirty="0"/>
          </a:p>
        </p:txBody>
      </p:sp>
      <p:pic>
        <p:nvPicPr>
          <p:cNvPr id="8" name="Image 1" descr="Плотность больше единиц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20634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f(x) = cx на [0; 1]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Нормировка</a:t>
            </a:r>
            <a:endParaRPr lang="en-US" sz="1500" dirty="0"/>
          </a:p>
        </p:txBody>
      </p:sp>
      <p:pic>
        <p:nvPicPr>
          <p:cNvPr id="4" name="Image 0" descr="ex_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2861706" cy="7081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53691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Функция распределения</a:t>
            </a:r>
            <a:endParaRPr lang="en-US" sz="1500" dirty="0"/>
          </a:p>
        </p:txBody>
      </p:sp>
      <p:pic>
        <p:nvPicPr>
          <p:cNvPr id="6" name="Image 1" descr="ex_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02671"/>
            <a:ext cx="2340864" cy="3452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385109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Вероятность</a:t>
            </a:r>
            <a:endParaRPr lang="en-US" sz="1500" dirty="0"/>
          </a:p>
        </p:txBody>
      </p:sp>
      <p:pic>
        <p:nvPicPr>
          <p:cNvPr id="8" name="Image 2" descr="ex_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50869"/>
            <a:ext cx="3029468" cy="34527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423330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Медиана: F(m) = 0,5</a:t>
            </a:r>
            <a:endParaRPr lang="en-US" sz="1500" dirty="0"/>
          </a:p>
        </p:txBody>
      </p:sp>
      <p:pic>
        <p:nvPicPr>
          <p:cNvPr id="10" name="Image 3" descr="ex_m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99066"/>
            <a:ext cx="3458627" cy="362834"/>
          </a:xfrm>
          <a:prstGeom prst="rect">
            <a:avLst/>
          </a:prstGeom>
        </p:spPr>
      </p:pic>
      <p:pic>
        <p:nvPicPr>
          <p:cNvPr id="11" name="Image 4" descr="f(x)=2x и F(x)=x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645920"/>
            <a:ext cx="5760720" cy="23123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852160" y="41148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Правая половина отрезка втрое вероятнее левой: плотность растёт.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переходить между описаниями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42513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Нужно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 p_i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 = Σ p_i по x_i ≤ x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дискретной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ряд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p_i — высоты скачков 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плотность 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 = ∫ f(t) dt от −∞ до x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непрерывной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плотность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f(x) = F′(x)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или F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P(a &lt; X ≤ b)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F(b) − F(a) = ∫ f от a до b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39496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распределения — общий язык: через неё проходят все переходы.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Квантили и данные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Квантили, ECDF и связь с выборкой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Квантили: обратная задача</a:t>
            </a:r>
            <a:endParaRPr lang="en-US" sz="2600" dirty="0"/>
          </a:p>
        </p:txBody>
      </p:sp>
      <p:pic>
        <p:nvPicPr>
          <p:cNvPr id="3" name="Image 0" descr="qu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119311" cy="50755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ступенчатой F: x_q = inf{x : F(x) ≥ q}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889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x₀,₅ — половина вероятности слева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квартили x₀,₂₅ и x₀,₇₅, межквартильный размах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p95, p99 — процентили в мониторинге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N(μ, σ²): 95 % в интервале μ ± 1,96σ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5486400" cy="123444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«p99 времени ответа ≤ 300 мс»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означает F(300) ≥ 0,99. Квантили устойчивы к выбросам.</a:t>
            </a:r>
            <a:endParaRPr lang="en-US" sz="1400" dirty="0"/>
          </a:p>
        </p:txBody>
      </p:sp>
      <p:pic>
        <p:nvPicPr>
          <p:cNvPr id="9" name="Image 1" descr="Квантили нормального распределен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303520" cy="25422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09360" y="43434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scipy: stats.norm.ppf(0.975) = 1,96   (ppf = F⁻¹)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Эмпирическая функция распределения</a:t>
            </a:r>
            <a:endParaRPr lang="en-US" sz="2600" dirty="0"/>
          </a:p>
        </p:txBody>
      </p:sp>
      <p:pic>
        <p:nvPicPr>
          <p:cNvPr id="3" name="Image 0" descr="ec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854635" cy="5720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наблюдений выборки, не превосходящих x.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Теорема Гливенко–Кантелли:</a:t>
            </a:r>
            <a:endParaRPr lang="en-US" sz="1500" dirty="0"/>
          </a:p>
        </p:txBody>
      </p:sp>
      <p:pic>
        <p:nvPicPr>
          <p:cNvPr id="6" name="Image 1" descr="g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3289402" cy="5681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вероятностью 1 при n → ∞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846320"/>
            <a:ext cx="5029200" cy="822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4846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ECDF — лучший первый взгляд на данные: нет параметра «число столбиков».</a:t>
            </a:r>
            <a:endParaRPr lang="en-US" sz="1500" dirty="0"/>
          </a:p>
        </p:txBody>
      </p:sp>
      <p:pic>
        <p:nvPicPr>
          <p:cNvPr id="10" name="Image 2" descr="ECDF при n = 20 и n = 50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45920"/>
            <a:ext cx="5852160" cy="23877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распределения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моделей, которые встречаются постоянно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распределений</a:t>
            </a:r>
            <a:endParaRPr lang="en-US" sz="2600" dirty="0"/>
          </a:p>
        </p:txBody>
      </p:sp>
      <p:pic>
        <p:nvPicPr>
          <p:cNvPr id="3" name="Image 0" descr="Галерея распределени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94415" cy="46379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— «центр тяжести», √DX — типичный разброс. Подробно числовые характеристики — на следующей лекции.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Бернулли и биномиальное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Бернулли Bern(p) — один опыт</a:t>
            </a:r>
            <a:endParaRPr lang="en-US" sz="1600" dirty="0"/>
          </a:p>
        </p:txBody>
      </p:sp>
      <p:pic>
        <p:nvPicPr>
          <p:cNvPr id="4" name="Image 0" descr="b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4437888" cy="43159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77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= p,  DX = p(1 − p).  Клик, отток, спам, брак.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Биномиальное B(n, p) — успехи в n опытах</a:t>
            </a:r>
            <a:endParaRPr lang="en-US" sz="1600" dirty="0"/>
          </a:p>
        </p:txBody>
      </p:sp>
      <p:pic>
        <p:nvPicPr>
          <p:cNvPr id="7" name="Image 1" descr="bin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3803904" cy="431597"/>
          </a:xfrm>
          <a:prstGeom prst="rect">
            <a:avLst/>
          </a:prstGeom>
        </p:spPr>
      </p:pic>
      <p:pic>
        <p:nvPicPr>
          <p:cNvPr id="8" name="Image 2" descr="binom_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3882420" cy="410017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48640" y="4709160"/>
            <a:ext cx="5577840" cy="141732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7724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A/B-тест: n = 200, p = 0,05, EX = 10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5303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P(X ≥ 15) ≈ 0,078 — бывает раз в 13 дней без всякого улучшения</a:t>
            </a:r>
            <a:endParaRPr lang="en-US" sz="1400" dirty="0"/>
          </a:p>
        </p:txBody>
      </p:sp>
      <p:pic>
        <p:nvPicPr>
          <p:cNvPr id="12" name="Image 3" descr="Биномиальное распредел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03520" cy="34325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stats.bernoulli(p),  stats.binom(n, p)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Геометрическое Geom(p)</a:t>
            </a:r>
            <a:endParaRPr lang="en-US" sz="2600" dirty="0"/>
          </a:p>
        </p:txBody>
      </p:sp>
      <p:pic>
        <p:nvPicPr>
          <p:cNvPr id="3" name="Image 0" descr="ge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294022" cy="431597"/>
          </a:xfrm>
          <a:prstGeom prst="rect">
            <a:avLst/>
          </a:prstGeom>
        </p:spPr>
      </p:pic>
      <p:pic>
        <p:nvPicPr>
          <p:cNvPr id="4" name="Image 1" descr="geom_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7517"/>
            <a:ext cx="4710989" cy="4315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78343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12176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первого успеха в серии независимых испытаний. Нет памяти: прошлые неудачи не влияют на будущее.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97215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данных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31048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Повторы запроса к API, p = 0,8: в среднем 1,25 попытки; P(больше 3 попыток) = 0,2³ = 0,008.</a:t>
            </a:r>
            <a:endParaRPr lang="en-US" sz="1500" dirty="0"/>
          </a:p>
        </p:txBody>
      </p:sp>
      <p:pic>
        <p:nvPicPr>
          <p:cNvPr id="9" name="Image 2" descr="Геометрическое Geom(p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03520" cy="3502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stats.geom(p)   # k = 1, 2, …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версия «число неудач до успеха» (k = 0, 1, …). Проверяйте документацию библиотеки.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Пуассона Pois(λ)</a:t>
            </a:r>
            <a:endParaRPr lang="en-US" sz="2600" dirty="0"/>
          </a:p>
        </p:txBody>
      </p:sp>
      <p:pic>
        <p:nvPicPr>
          <p:cNvPr id="3" name="Image 0" descr="po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11674" cy="491581"/>
          </a:xfrm>
          <a:prstGeom prst="rect">
            <a:avLst/>
          </a:prstGeom>
        </p:spPr>
      </p:pic>
      <p:pic>
        <p:nvPicPr>
          <p:cNvPr id="4" name="Image 1" descr="pois_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1936090" cy="4267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7889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редких независимых событий за интервал при средней интенсивности λ.</a:t>
            </a:r>
            <a:endParaRPr lang="en-US" sz="1500" dirty="0"/>
          </a:p>
        </p:txBody>
      </p:sp>
      <p:pic>
        <p:nvPicPr>
          <p:cNvPr id="6" name="Image 2" descr="pois_li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4868753" cy="35390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0690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пользователей, у каждого малый шанс отправить запрос в эту минуту.</a:t>
            </a:r>
            <a:endParaRPr lang="en-US" sz="1400" dirty="0"/>
          </a:p>
        </p:txBody>
      </p:sp>
      <p:sp>
        <p:nvSpPr>
          <p:cNvPr id="8" name="Shape 3"/>
          <p:cNvSpPr/>
          <p:nvPr/>
        </p:nvSpPr>
        <p:spPr>
          <a:xfrm>
            <a:off x="548640" y="4846320"/>
            <a:ext cx="55778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77240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 в данных: среднее ≈ дисперсия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777240" y="5440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Дисперсия намного больше среднего — поток неоднородный, Пуассон не подходит.</a:t>
            </a:r>
            <a:endParaRPr lang="en-US" sz="1400" dirty="0"/>
          </a:p>
        </p:txBody>
      </p:sp>
      <p:pic>
        <p:nvPicPr>
          <p:cNvPr id="11" name="Image 3" descr="Биномиальное стремится к Пуассону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03520" cy="285816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30936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stats.poisson(mu=λ)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Равномерное U(a; b)</a:t>
            </a:r>
            <a:endParaRPr lang="en-US" sz="2600" dirty="0"/>
          </a:p>
        </p:txBody>
      </p:sp>
      <p:pic>
        <p:nvPicPr>
          <p:cNvPr id="3" name="Image 0" descr="un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026054" cy="458419"/>
          </a:xfrm>
          <a:prstGeom prst="rect">
            <a:avLst/>
          </a:prstGeom>
        </p:spPr>
      </p:pic>
      <p:pic>
        <p:nvPicPr>
          <p:cNvPr id="4" name="Image 1" descr="unif_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4339"/>
            <a:ext cx="3762451" cy="49987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878531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216859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точки отрезка равноправны: вероятность попасть в подотрезок пропорциональна его длине.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067251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данных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405579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округления — U(−0,5; 0,5). rng.random() даёт U(0; 1): из неё получают все остальные распределения.</a:t>
            </a:r>
            <a:endParaRPr lang="en-US" sz="1500" dirty="0"/>
          </a:p>
        </p:txBody>
      </p:sp>
      <p:pic>
        <p:nvPicPr>
          <p:cNvPr id="9" name="Image 2" descr="Равномерное U(a; b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03520" cy="35026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stats.uniform(loc=a, scale=b−a)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scipy второй параметр — длина отрезка, а не правый конец.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Показательное Exp(λ)</a:t>
            </a:r>
            <a:endParaRPr lang="en-US" sz="2600" dirty="0"/>
          </a:p>
        </p:txBody>
      </p:sp>
      <p:pic>
        <p:nvPicPr>
          <p:cNvPr id="3" name="Image 0" descr="ex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6044" cy="410017"/>
          </a:xfrm>
          <a:prstGeom prst="rect">
            <a:avLst/>
          </a:prstGeom>
        </p:spPr>
      </p:pic>
      <p:pic>
        <p:nvPicPr>
          <p:cNvPr id="4" name="Image 1" descr="exp_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995928" cy="41001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6974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до события, которое может наступить в любой момент с постоянной интенсивностью λ.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памяти</a:t>
            </a:r>
            <a:endParaRPr lang="en-US" sz="1500" dirty="0"/>
          </a:p>
        </p:txBody>
      </p:sp>
      <p:pic>
        <p:nvPicPr>
          <p:cNvPr id="7" name="Image 2" descr="meml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3977396" cy="41001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438912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Интервалы между событиями пуассоновского потока ~ Exp(λ): P(T &gt; t) = P(нет событий за t) = e^(−λt).</a:t>
            </a:r>
            <a:endParaRPr lang="en-US" sz="1400" dirty="0"/>
          </a:p>
        </p:txBody>
      </p:sp>
      <p:pic>
        <p:nvPicPr>
          <p:cNvPr id="9" name="Image 3" descr="Показательное распредел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03520" cy="35026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stats.expon(scale=1/λ)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DE9D3"/>
          </a:solidFill>
          <a:ln w="6350">
            <a:solidFill>
              <a:srgbClr val="FDE9D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Частая ошибка: в scipy и numpy параметр — масштаб 1/λ, а не интенсивность 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Нормальное N(μ, σ²)</a:t>
            </a:r>
            <a:endParaRPr lang="en-US" sz="2600" dirty="0"/>
          </a:p>
        </p:txBody>
      </p:sp>
      <p:pic>
        <p:nvPicPr>
          <p:cNvPr id="3" name="Image 0" descr="n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565197" cy="6120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31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 = μ,  DX = σ². μ сдвигает колокол, σ растягивает.</a:t>
            </a:r>
            <a:endParaRPr lang="en-US" sz="1500" dirty="0"/>
          </a:p>
        </p:txBody>
      </p:sp>
      <p:pic>
        <p:nvPicPr>
          <p:cNvPr id="5" name="Image 1" descr="zsco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34640"/>
            <a:ext cx="2385974" cy="412333"/>
          </a:xfrm>
          <a:prstGeom prst="rect">
            <a:avLst/>
          </a:prstGeom>
        </p:spPr>
      </p:pic>
      <p:pic>
        <p:nvPicPr>
          <p:cNvPr id="6" name="Image 2" descr="norm_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3679058" cy="35790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4434840"/>
            <a:ext cx="5577840" cy="1691640"/>
          </a:xfrm>
          <a:prstGeom prst="rect">
            <a:avLst/>
          </a:prstGeom>
          <a:solidFill>
            <a:srgbClr val="FDE9D3"/>
          </a:solidFill>
          <a:ln w="9525">
            <a:solidFill>
              <a:srgbClr val="FDE9D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77724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Лапласа в задачниках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777240" y="50292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дают Φ₀(x) = ∫₀ˣ φ(t) dt, а scipy — Φ(x) = P(Z ≤ x).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Связь: Φ(x) = 0,5 + Φ₀(x).</a:t>
            </a:r>
            <a:endParaRPr lang="en-US" sz="1400" dirty="0"/>
          </a:p>
        </p:txBody>
      </p:sp>
      <p:pic>
        <p:nvPicPr>
          <p:cNvPr id="10" name="Image 3" descr="Нормальное распределение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303520" cy="350268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30936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stats.norm(loc=μ, scale=σ)   # σ, не σ²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трёх сигм и почему нормальное везде</a:t>
            </a:r>
            <a:endParaRPr lang="en-US" sz="2600" dirty="0"/>
          </a:p>
        </p:txBody>
      </p:sp>
      <p:pic>
        <p:nvPicPr>
          <p:cNvPr id="3" name="Image 0" descr="Правило трёх сиг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30118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 модели ~ N(0; 2²): P(|X| &gt; 4) = 2(1 − Φ(2)) ≈ 0,046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583680" y="1371600"/>
            <a:ext cx="5029200" cy="214884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 часто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19659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ЦПТ: сумма многих мелких независимых факторов ≈ нормальна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максимум энтропии при заданных μ и σ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MSE в регрессии ⇔ нормальный шум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3749040"/>
            <a:ext cx="5029200" cy="2377440"/>
          </a:xfrm>
          <a:prstGeom prst="rect">
            <a:avLst/>
          </a:prstGeom>
          <a:solidFill>
            <a:srgbClr val="FDE9D3"/>
          </a:solidFill>
          <a:ln w="9525">
            <a:solidFill>
              <a:srgbClr val="FDE9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не всё нормально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43434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ответа, доходы, цены, размеры файлов: неотрицательны, длинный правый хвост. Нормальная модель даёт отрицательные значения и занижает хвост. Часто подходит логнормальное: ln X ~ N(μ, σ²).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Шпаргалка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371600"/>
                <a:gridCol w="1554480"/>
                <a:gridCol w="43278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Распределение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scipy.stats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Бернулли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p(1−p)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bernoulli(p)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Биномиальное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 …, 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np(1−p)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binom(n, 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Геометрическое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 2, …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(1−p)/p²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geom(p)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Пуассона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 1, …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poisson(mu=λ)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Равномерное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[a; b]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(a+b)/2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(b−a)²/12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uniform(loc=a, scale=b−a)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[0; ∞)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1/λ²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expon(scale=1/λ)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Нормальное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ℝ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norm(loc=μ, scale=σ)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Методы: pmf / pdf · cdf = F(x) · sf = 1 − F(x) · ppf = F⁻¹(q) · rvs = выборка · mean, var, median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Распределения в анализе данных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Выбрать, оценить, проверить, использовать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модели по смыслу данных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за величина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Кандидат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 параметра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 / нет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Бернулли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p* = доля единиц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успехи из известного 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биномиальное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p* = x̄ / 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попытки до успеха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геометрическое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p* = 1 / x̄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событий за интервал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Пуассона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λ* = x̄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время до события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λ* = 1 / x̄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сумма многих факторов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нормальное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μ* = x̄,  σ* = 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положительное, длинный хвост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логнормальное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нормальное для ln 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325880"/>
            <a:ext cx="3291840" cy="36576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моментов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192024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Приравниваем теоретическое среднее к выборочному.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для Пуассона EX = λ, поэтому оценка λ* = x̄.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оценивания — в курсе статистики.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Проверка: подходит ли модель</a:t>
            </a:r>
            <a:endParaRPr lang="en-US" sz="2600" dirty="0"/>
          </a:p>
        </p:txBody>
      </p:sp>
      <p:pic>
        <p:nvPicPr>
          <p:cNvPr id="3" name="Image 0" descr="Подбор модели ко времени отве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280160"/>
            <a:ext cx="9509760" cy="35421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7492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Гистограмма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669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в целом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507492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ECDF против F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5669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расхождения в хвостах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5074920"/>
            <a:ext cx="2606040" cy="109728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QQ-график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669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 на диагонали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915400" y="5074920"/>
            <a:ext cx="2606040" cy="109728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0" y="5257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5669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Пуассон: x̄ ≈ s²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модель распределения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Мощности и риски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сколько серверов нужно, чтобы перегрузка была реже 1 %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949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и квантили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p99 даже по небольшой выборке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949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аномалий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наблюдение с P(X ≥ x) &lt; 0,001 — кандидат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53949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154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A/B-тесты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5661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колебания объясняются случайностью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141732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166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p(y | x): Бернулли, нормальное, Пуассон; потери = −log правдоподобия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572000"/>
            <a:ext cx="539496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4754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Симуляции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166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Монте-Карло для вероятностей, которые трудно посчитать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Генерация: метод обратной функции</a:t>
            </a:r>
            <a:endParaRPr lang="en-US" sz="2600" dirty="0"/>
          </a:p>
        </p:txBody>
      </p:sp>
      <p:pic>
        <p:nvPicPr>
          <p:cNvPr id="3" name="Image 0" descr="in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239890" cy="496336"/>
          </a:xfrm>
          <a:prstGeom prst="rect">
            <a:avLst/>
          </a:prstGeom>
        </p:spPr>
      </p:pic>
      <p:pic>
        <p:nvPicPr>
          <p:cNvPr id="4" name="Image 1" descr="inv_proo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31720"/>
            <a:ext cx="4688556" cy="41001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U ~ U(0; 1): P(U ≤ u) = u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</a:t>
            </a:r>
            <a:endParaRPr lang="en-US" sz="1500" dirty="0"/>
          </a:p>
        </p:txBody>
      </p:sp>
      <p:pic>
        <p:nvPicPr>
          <p:cNvPr id="7" name="Image 2" descr="inv_ex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86200"/>
            <a:ext cx="3101645" cy="48280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Дискретный случай: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074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np.searchsorted(np.cumsum(p), u)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48640" y="5577840"/>
            <a:ext cx="5303520" cy="54864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77240" y="5577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семинаре реализуем сами и сравним со scipy.</a:t>
            </a:r>
            <a:endParaRPr lang="en-US" sz="1500" dirty="0"/>
          </a:p>
        </p:txBody>
      </p:sp>
      <p:pic>
        <p:nvPicPr>
          <p:cNvPr id="12" name="Image 3" descr="Метод обратной функци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45920"/>
            <a:ext cx="5577840" cy="22939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пример: 4 запроса в минуту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 запросов пуассоновский: N ~ Pois(4) — запросов за минуту, T ~ Exp(4) — минут между запросами.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66928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Минута без запросов</a:t>
            </a:r>
            <a:endParaRPr lang="en-US" sz="1400" dirty="0"/>
          </a:p>
        </p:txBody>
      </p:sp>
      <p:pic>
        <p:nvPicPr>
          <p:cNvPr id="6" name="Image 0" descr="cs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212848"/>
            <a:ext cx="2657124" cy="3668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971800"/>
            <a:ext cx="5669280" cy="82296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Перегрузка: 8 и больше</a:t>
            </a:r>
            <a:endParaRPr lang="en-US" sz="1400" dirty="0"/>
          </a:p>
        </p:txBody>
      </p:sp>
      <p:pic>
        <p:nvPicPr>
          <p:cNvPr id="9" name="Image 1" descr="cs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172968"/>
            <a:ext cx="1956572" cy="3668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931920"/>
            <a:ext cx="566928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" y="3931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Ждать дольше 30 с</a:t>
            </a:r>
            <a:endParaRPr lang="en-US" sz="1400" dirty="0"/>
          </a:p>
        </p:txBody>
      </p:sp>
      <p:pic>
        <p:nvPicPr>
          <p:cNvPr id="12" name="Image 2" descr="cs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33088"/>
            <a:ext cx="2800137" cy="36685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4892040"/>
            <a:ext cx="5669280" cy="822960"/>
          </a:xfrm>
          <a:prstGeom prst="rect">
            <a:avLst/>
          </a:prstGeom>
          <a:solidFill>
            <a:srgbClr val="F5F7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892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интервала</a:t>
            </a:r>
            <a:endParaRPr lang="en-US" sz="1400" dirty="0"/>
          </a:p>
        </p:txBody>
      </p:sp>
      <p:pic>
        <p:nvPicPr>
          <p:cNvPr id="15" name="Image 3" descr="cs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5093208"/>
            <a:ext cx="2659197" cy="366857"/>
          </a:xfrm>
          <a:prstGeom prst="rect">
            <a:avLst/>
          </a:prstGeom>
        </p:spPr>
      </p:pic>
      <p:pic>
        <p:nvPicPr>
          <p:cNvPr id="16" name="Image 4" descr="Хвост распределения Пуассон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920240"/>
            <a:ext cx="5120640" cy="279958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92240" y="4709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stats.poisson(4);  N.sf(7)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stats.expon(scale=1/4);  T.sf(0.5)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943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74 минуты перегрузки в сутки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Случайная величина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исхода X: Ω → 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204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ряд, F(x) или плотность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20440" cy="1600200"/>
          </a:xfrm>
          <a:prstGeom prst="rect">
            <a:avLst/>
          </a:prstGeom>
          <a:solidFill>
            <a:srgbClr val="D6EEF8"/>
          </a:solidFill>
          <a:ln w="9525">
            <a:solidFill>
              <a:srgbClr val="D6EE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544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P(X ≤ x)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 &lt; X ≤ b) = F(b) − F(a)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35204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вероятность = площадь; f может быть &gt;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200400"/>
            <a:ext cx="35204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Квантили и ECDF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мост между моделью и данными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200400"/>
            <a:ext cx="3520440" cy="1600200"/>
          </a:xfrm>
          <a:prstGeom prst="rect">
            <a:avLst/>
          </a:prstGeom>
          <a:solidFill>
            <a:srgbClr val="F5F7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383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794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по смыслу, проверяем QQ и ECDF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solidFill>
            <a:srgbClr val="D6EEF8"/>
          </a:solidFill>
          <a:ln w="6350">
            <a:solidFill>
              <a:srgbClr val="D6EE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5780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Семинар: симулируем, строим распределения и ECDF, подбираем модели к данным в Google Colab.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Литература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Гмурман В. Е. Теория вероятностей и математическая статистика — гл. 6, 10–13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Мёрфи К. П. Вероятностное машинное обучение: введение — разд. 2.2, 2.4–2.8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Николенко С., Кадурин А., Архангельская Е. Глубокое обучение — гл. 2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Дайзенрот М. П., Фейзал А. А., Он Ч. С. Математика для машинного обучения — гл. 6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Савелова Т. И. Метод Монте-Карло — метод обратных функций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Конспект с полными формулировками: 03_random-variables-distributions-itmo.md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873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bability ITMO">
  <a:themeElements>
    <a:clrScheme name="Probability ITMO">
      <a:dk1>
        <a:srgbClr val="1F2937"/>
      </a:dk1>
      <a:lt1>
        <a:srgbClr val="FFFFFF"/>
      </a:lt1>
      <a:dk2>
        <a:srgbClr val="6B7280"/>
      </a:dk2>
      <a:lt2>
        <a:srgbClr val="F5F7FA"/>
      </a:lt2>
      <a:accent1>
        <a:srgbClr val="3B82F6"/>
      </a:accent1>
      <a:accent2>
        <a:srgbClr val="D6EEF8"/>
      </a:accent2>
      <a:accent3>
        <a:srgbClr val="F28C28"/>
      </a:accent3>
      <a:accent4>
        <a:srgbClr val="FDE9D3"/>
      </a:accent4>
      <a:accent5>
        <a:srgbClr val="E5E7EB"/>
      </a:accent5>
      <a:accent6>
        <a:srgbClr val="10B981"/>
      </a:accent6>
      <a:hlink>
        <a:srgbClr val="3B82F6"/>
      </a:hlink>
      <a:folHlink>
        <a:srgbClr val="6B7280"/>
      </a:folHlink>
    </a:clrScheme>
    <a:fontScheme name="Probability ITM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3. Случайные величины и распределения</dc:title>
  <dc:subject>PptxGenJS Presentation</dc:subject>
  <dc:creator>Курс «Теория вероятностей», ИТМО</dc:creator>
  <cp:lastModifiedBy>Курс «Теория вероятностей», ИТМО</cp:lastModifiedBy>
  <cp:revision>1</cp:revision>
  <dcterms:created xsi:type="dcterms:W3CDTF">2026-10-14T12:57:15Z</dcterms:created>
  <dcterms:modified xsi:type="dcterms:W3CDTF">2026-10-14T12:57:15Z</dcterms:modified>
</cp:coreProperties>
</file>