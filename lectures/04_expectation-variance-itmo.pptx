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6"/>
    <p:sldId id="297" r:id="rId48"/>
    <p:sldId id="298" r:id="rId49"/>
    <p:sldId id="299" r:id="rId50"/>
    <p:sldId id="300" r:id="rId51"/>
    <p:sldId id="301" r:id="rId52"/>
    <p:sldId id="291" r:id="rId5"/>
    <p:sldId id="292" r:id="rId4"/>
    <p:sldId id="293" r:id="rId3"/>
    <p:sldId id="294" r:id="rId2"/>
    <p:sldId id="295" r:id="rId46"/>
    <p:sldId id="296" r:id="rId47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5f105f5-528e-1bbc-1375-6bef619ea4c5}">
          <p14:sldIdLst>
            <p14:sldId id="256"/>
            <p14:sldId id="257"/>
            <p14:sldId id="258"/>
          </p14:sldIdLst>
        </p14:section>
        <p14:section name="Случайная величина" id="{54f787ba-b33d-ce33-8649-a3c6963b06cf}">
          <p14:sldIdLst>
            <p14:sldId id="259"/>
            <p14:sldId id="260"/>
            <p14:sldId id="261"/>
            <p14:sldId id="262"/>
          </p14:sldIdLst>
        </p14:section>
        <p14:section name="Дискретные величины" id="{8eebc759-f193-4ffa-8c70-18bf82f13175}">
          <p14:sldIdLst>
            <p14:sldId id="263"/>
            <p14:sldId id="264"/>
          </p14:sldIdLst>
        </p14:section>
        <p14:section name="Функция распределения" id="{78f22b51-6829-bbbf-64df-7f28e6491fc3}">
          <p14:sldIdLst>
            <p14:sldId id="265"/>
            <p14:sldId id="266"/>
            <p14:sldId id="267"/>
            <p14:sldId id="268"/>
          </p14:sldIdLst>
        </p14:section>
        <p14:section name="Непрерывные величины" id="{205b3bd2-6af9-d82b-76d3-7b4f9a3ff20d}">
          <p14:sldIdLst>
            <p14:sldId id="269"/>
            <p14:sldId id="270"/>
            <p14:sldId id="271"/>
            <p14:sldId id="272"/>
            <p14:sldId id="273"/>
          </p14:sldIdLst>
        </p14:section>
        <p14:section name="Квантили и данные" id="{e78002c4-cc46-ce93-55b7-50fbad578964}">
          <p14:sldIdLst>
            <p14:sldId id="274"/>
            <p14:sldId id="275"/>
            <p14:sldId id="276"/>
          </p14:sldIdLst>
        </p14:section>
        <p14:section name="Основные распределения" id="{be7bda4b-715d-71f3-97f4-292c16ec1c2b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Распределения в анализе данных" id="{712c89dc-8652-d2e2-ad9e-178474a6b279}">
          <p14:sldIdLst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Итоги" id="{779caeee-8ad6-958a-685f-ae6691fa3111}">
          <p14:sldIdLst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9.xml"/><Relationship Id="rId3" Type="http://schemas.openxmlformats.org/officeDocument/2006/relationships/slide" Target="slides/slide38.xml"/><Relationship Id="rId4" Type="http://schemas.openxmlformats.org/officeDocument/2006/relationships/slide" Target="slides/slide37.xml"/><Relationship Id="rId5" Type="http://schemas.openxmlformats.org/officeDocument/2006/relationships/slide" Target="slides/slide36.xml"/><Relationship Id="rId6" Type="http://schemas.openxmlformats.org/officeDocument/2006/relationships/slide" Target="slides/slide3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05840"/>
            <a:ext cx="11094415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Arial"/>
              </a:rPr>
              <a:t>ТЕОРИЯ ВЕРОЯТНОСТЕЙ · ЛЕКЦИЯ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315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2937"/>
                </a:solidFill>
                <a:latin typeface="Arial"/>
              </a:rPr>
              <a:t>Математическое ожидание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1F2937"/>
                </a:solidFill>
                <a:latin typeface="Arial"/>
              </a:rPr>
              <a:t>и дисперсия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Где центр распределения, насколько велик разброс и как связаны две величины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3108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b2157aea7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783080"/>
            <a:ext cx="2485217" cy="367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ИТМО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Распределение — это целая функция. Часто хватает трёх чисел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2937"/>
                </a:solidFill>
                <a:latin typeface="Arial"/>
              </a:rPr>
              <a:t>Полное описание — ряд, F(x), плотность. Но для решений обычно нужны ответы на три вопроса: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331720"/>
            <a:ext cx="6766560" cy="749808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33172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Где центр?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331720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время ответа «в среднем 120 мс»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2331720"/>
            <a:ext cx="10972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Arial"/>
              </a:rPr>
              <a:t>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246120"/>
            <a:ext cx="6766560" cy="749808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24612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Насколько разброс?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3246120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± 30 мс или ± 300 мс?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246120"/>
            <a:ext cx="10972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Arial"/>
              </a:rPr>
              <a:t>DX, 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160520"/>
            <a:ext cx="6766560" cy="749808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16052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Как связаны?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160520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растёт ли время ответа с нагрузкой?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160520"/>
            <a:ext cx="10972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Arial"/>
              </a:rPr>
              <a:t>cov, 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0" y="1325880"/>
            <a:ext cx="3867912" cy="3749039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1508760"/>
            <a:ext cx="3410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ЧТО ВЫ УЖЕ ВИДЕЛИ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1920240"/>
            <a:ext cx="3410712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df.describe(): mean, std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df.corr(): корреляции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«p95 и среднее время ответа» в мониторинге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MSE — функция потерь регрессии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стандартизация признаков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За всем этим — числовые характеристики случайных величин.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Одинаковые среднее и дисперсия не означают одинаковое распределение — это сжатое описание.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Маршрут лекции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3017520"/>
            <a:ext cx="1056132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67512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Мат. ожидание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центр</a:t>
            </a:r>
          </a:p>
        </p:txBody>
      </p:sp>
      <p:sp>
        <p:nvSpPr>
          <p:cNvPr id="30" name="Oval 29"/>
          <p:cNvSpPr/>
          <p:nvPr/>
        </p:nvSpPr>
        <p:spPr>
          <a:xfrm>
            <a:off x="2002536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44752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Свойства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4752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линейность</a:t>
            </a:r>
          </a:p>
        </p:txBody>
      </p:sp>
      <p:sp>
        <p:nvSpPr>
          <p:cNvPr id="33" name="Oval 32"/>
          <p:cNvSpPr/>
          <p:nvPr/>
        </p:nvSpPr>
        <p:spPr>
          <a:xfrm>
            <a:off x="333756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79776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Дисперсия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разброс</a:t>
            </a:r>
          </a:p>
        </p:txBody>
      </p:sp>
      <p:sp>
        <p:nvSpPr>
          <p:cNvPr id="36" name="Oval 35"/>
          <p:cNvSpPr/>
          <p:nvPr/>
        </p:nvSpPr>
        <p:spPr>
          <a:xfrm>
            <a:off x="4672584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σ и Чебышёв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масштаб отклонений</a:t>
            </a:r>
          </a:p>
        </p:txBody>
      </p:sp>
      <p:sp>
        <p:nvSpPr>
          <p:cNvPr id="39" name="Oval 38"/>
          <p:cNvSpPr/>
          <p:nvPr/>
        </p:nvSpPr>
        <p:spPr>
          <a:xfrm>
            <a:off x="6007608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9824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Сумма и среднее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9824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закон √n</a:t>
            </a:r>
          </a:p>
        </p:txBody>
      </p:sp>
      <p:sp>
        <p:nvSpPr>
          <p:cNvPr id="42" name="Oval 41"/>
          <p:cNvSpPr/>
          <p:nvPr/>
        </p:nvSpPr>
        <p:spPr>
          <a:xfrm>
            <a:off x="7342631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4848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Ковариация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совместный разброс</a:t>
            </a:r>
          </a:p>
        </p:txBody>
      </p:sp>
      <p:sp>
        <p:nvSpPr>
          <p:cNvPr id="45" name="Oval 44"/>
          <p:cNvSpPr/>
          <p:nvPr/>
        </p:nvSpPr>
        <p:spPr>
          <a:xfrm>
            <a:off x="8677656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19871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Корреляция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9871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линейная связь</a:t>
            </a:r>
          </a:p>
        </p:txBody>
      </p:sp>
      <p:sp>
        <p:nvSpPr>
          <p:cNvPr id="48" name="Oval 47"/>
          <p:cNvSpPr/>
          <p:nvPr/>
        </p:nvSpPr>
        <p:spPr>
          <a:xfrm>
            <a:off x="11347703" y="29260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19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Данные и ML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19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выборочные оценки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На семинаре всё проверяем симуляциями: ЗБЧ, σ/√n, Чебышёв, ddof, корреляции на реальных данных.</a:t>
            </a:r>
          </a:p>
        </p:txBody>
      </p:sp>
      <p:sp>
        <p:nvSpPr>
          <p:cNvPr id="53" name="Oval 44"/>
          <p:cNvSpPr/>
          <p:nvPr/>
        </p:nvSpPr>
        <p:spPr>
          <a:xfrm>
            <a:off x="10012679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45"/>
          <p:cNvSpPr txBox="1"/>
          <p:nvPr/>
        </p:nvSpPr>
        <p:spPr>
          <a:xfrm>
            <a:off x="9454895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Факторы</a:t>
            </a:r>
          </a:p>
        </p:txBody>
      </p:sp>
      <p:sp>
        <p:nvSpPr>
          <p:cNvPr id="55" name="TextBox 46"/>
          <p:cNvSpPr txBox="1"/>
          <p:nvPr/>
        </p:nvSpPr>
        <p:spPr>
          <a:xfrm>
            <a:off x="9454895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скрытые причины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Математическое ожидание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Центр распределения и долгосрочное среднее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Математическое ожидание: определение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Дискретная величина</a:t>
            </a:r>
          </a:p>
        </p:txBody>
      </p:sp>
      <p:pic>
        <p:nvPicPr>
          <p:cNvPr id="27" name="Picture 26" descr="f_e73c3efeef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950537" cy="70494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Непрерывная величина с плотностью f</a:t>
            </a:r>
          </a:p>
        </p:txBody>
      </p:sp>
      <p:pic>
        <p:nvPicPr>
          <p:cNvPr id="29" name="Picture 28" descr="f_9035cec23f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54680"/>
            <a:ext cx="2975091" cy="8931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43434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Если ряд или интеграл сходится абсолютно. Обозначения: EX, 𝔼[X], M(X) у Гмурмана, μ.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1325880"/>
            <a:ext cx="5056632" cy="18288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150876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Кубик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1920240"/>
            <a:ext cx="4599432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EX = (1 + 2 + … + 6)/6 = 3,5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Значение 3,5 выпасть не может: EX не обязано быть возможным значением.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3337560"/>
            <a:ext cx="5056632" cy="21031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52044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Индикатор события</a:t>
            </a:r>
          </a:p>
        </p:txBody>
      </p:sp>
      <p:pic>
        <p:nvPicPr>
          <p:cNvPr id="36" name="Picture 35" descr="f_5263706289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3794760"/>
            <a:ext cx="3793540" cy="3076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812280" y="4434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Вероятность события — ожидание его индикатора. Этот мост ещё не раз пригодится.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Механический смысл: центр масс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enter-of-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49440" cy="2809991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863840" y="1325880"/>
            <a:ext cx="3776472" cy="30175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1508760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Грузы на стержне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319272" cy="2331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Значения xᵢ — точки, вероятности pᵢ — массы. EX — точка равновесия.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EX = 0·0,1 + 1·0,3 + 2·0,3 + 3·0,2 + 6·0,1 = 2,1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Один груз в точке 6 сдвигает центр вправо.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2064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206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Для непрерывной величины масса «размазана» по прямой с плотностью f(x).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Статистический смысл: среднее многих повторений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8e925265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3889126" cy="67805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2402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Частота nᵢ/n значения xᵢ близка к вероятности pᵢ, поэтому среднее арифметическое наблюдений близко к EX.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Строго это закон больших чисел — докажем его в конце лекции через неравенство Чебышёва.</a:t>
            </a:r>
          </a:p>
        </p:txBody>
      </p:sp>
      <p:pic>
        <p:nvPicPr>
          <p:cNvPr id="28" name="Picture 27" descr="04-l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5669280" cy="31191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48640" y="4206240"/>
            <a:ext cx="5120640" cy="13258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389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Лотерея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00600"/>
            <a:ext cx="46634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Билет 100 ₽; выигрыш 50 000 ₽ с вер. 0,001, 1 000 ₽ с вер. 0,01. E(чистый выигрыш) = 49,9 + 9 − 98,9 = −40 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Считаем ожидания непрерывных величин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71600"/>
            <a:ext cx="3566160" cy="2743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Равномерное U(a; b)</a:t>
            </a:r>
          </a:p>
        </p:txBody>
      </p:sp>
      <p:pic>
        <p:nvPicPr>
          <p:cNvPr id="28" name="Picture 27" descr="f_b2150ec215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2025213" cy="7826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" y="32004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середина отрезка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1371600"/>
            <a:ext cx="3566160" cy="2743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Показательное Exp(λ)</a:t>
            </a:r>
          </a:p>
        </p:txBody>
      </p:sp>
      <p:pic>
        <p:nvPicPr>
          <p:cNvPr id="32" name="Picture 31" descr="f_d012309c54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011680"/>
            <a:ext cx="2249241" cy="73779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26279" y="32004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 частям; λ = 4 в минуту → 15 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1371600"/>
            <a:ext cx="3566160" cy="2743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Плотность 3x² на [0; 1]</a:t>
            </a:r>
          </a:p>
        </p:txBody>
      </p:sp>
      <p:pic>
        <p:nvPicPr>
          <p:cNvPr id="36" name="Picture 35" descr="f_c98f7e349f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2011680"/>
            <a:ext cx="2093915" cy="77961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19" y="32004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масса смещена к 1 — и центр тоже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720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5720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Нормальное N(μ, σ²): EX = μ — плотность симметрична относительно 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Математическое ожидание существует не всегда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120640" cy="2331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Санкт-Петербургский парадокс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20240"/>
            <a:ext cx="466344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Бросаем монету до первого орла. Орёл на k-м броске → выигрыш 2ᵏ ₽, вероятность 2⁻ᵏ.</a:t>
            </a:r>
          </a:p>
        </p:txBody>
      </p:sp>
      <p:pic>
        <p:nvPicPr>
          <p:cNvPr id="29" name="Picture 28" descr="f_93a4b1e218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3426134" cy="525719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48640" y="3840480"/>
            <a:ext cx="5120640" cy="16916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Распределение Коши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34840"/>
            <a:ext cx="4663440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f(x) = 1/(π(1 + x²)) симметрична, но ∫|x| f(x) dx = ∞: EX не существует (а не «равно 0»).</a:t>
            </a:r>
          </a:p>
        </p:txBody>
      </p:sp>
      <p:pic>
        <p:nvPicPr>
          <p:cNvPr id="33" name="Picture 32" descr="04-cau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5669280" cy="27612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0" y="4023360"/>
            <a:ext cx="5669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Без EX выборочное среднее не стабилизируется: редкие огромные значения снова и снова его сбивают. В данных с тяжёлыми хвостами (размеры файлов, суммы транзакций) приводите ещё медиану и квантили.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Среднее, медиана, мода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mean-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3512582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949440" y="1325880"/>
            <a:ext cx="4690872" cy="20116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150876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Три «центра»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1920240"/>
            <a:ext cx="423367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медиана: F(x) = 1/2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мода: максимум ряда или плотности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при правом хвосте обычно мода &lt; медиана &lt; среднее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3520440"/>
            <a:ext cx="4690872" cy="20116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370332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Директор в отделе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114800"/>
            <a:ext cx="423367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10 сотрудников по 100 тыс. ₽ + директор 3 млн ₽: среднее 364 тыс., медиана 100 тыс. Медиана устойчива к выбросам, среднее — линейно.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Свойства ожидания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Линейность — главный рабочий инструмент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Свойства математического ожидания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852160" cy="4206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Для любых X, Y и чисел a, b, c</a:t>
            </a:r>
          </a:p>
        </p:txBody>
      </p:sp>
      <p:pic>
        <p:nvPicPr>
          <p:cNvPr id="28" name="Picture 27" descr="f_0bdd8f735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728837" cy="334548"/>
          </a:xfrm>
          <a:prstGeom prst="rect">
            <a:avLst/>
          </a:prstGeom>
        </p:spPr>
      </p:pic>
      <p:pic>
        <p:nvPicPr>
          <p:cNvPr id="29" name="Picture 28" descr="f_db16c728f1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3721851" cy="337535"/>
          </a:xfrm>
          <a:prstGeom prst="rect">
            <a:avLst/>
          </a:prstGeom>
        </p:spPr>
      </p:pic>
      <p:pic>
        <p:nvPicPr>
          <p:cNvPr id="30" name="Picture 29" descr="f_3e4d65e12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46120"/>
            <a:ext cx="2204435" cy="3345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3977639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Аддитивность не требует независимости: при доказательстве мы просто суммируем совместные вероятности по одному индексу.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1325880"/>
            <a:ext cx="4965192" cy="1920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150876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Только для независимых</a:t>
            </a:r>
          </a:p>
        </p:txBody>
      </p:sp>
      <p:pic>
        <p:nvPicPr>
          <p:cNvPr id="34" name="Picture 33" descr="f_a1ad2fffd5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965960"/>
            <a:ext cx="2135733" cy="367405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6675120" y="3429000"/>
            <a:ext cx="4965192" cy="21031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361188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Типичные ошибки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023360"/>
            <a:ext cx="450799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X = ±1, Y = X: EX·EY = 0, но E(XY) = 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E g(X) ≠ g(EX): E(X²) ≠ (EX)², E(1/X) ≠ 1/EX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Ожидание функции от случайной величины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3035d0fb67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580449" cy="83935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331720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Распределение Y = g(X) искать не нужно: подставляем g прямо в формулу ожидания (LOTUS).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5486400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Кубик</a:t>
            </a:r>
          </a:p>
        </p:txBody>
      </p:sp>
      <p:pic>
        <p:nvPicPr>
          <p:cNvPr id="30" name="Picture 29" descr="f_5fe53d2d78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4423806" cy="4988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47091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а (EX)² = 12,25 — не то же самое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291840"/>
            <a:ext cx="5239512" cy="21945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347472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Зачем это нужно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886200"/>
            <a:ext cx="47823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EX² → дисперсия (следующий раздел)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E(доход − затраты)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ожидаемая функция потерь в 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Метод индикаторов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71600"/>
            <a:ext cx="3566160" cy="29260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Биномиальное</a:t>
            </a:r>
          </a:p>
        </p:txBody>
      </p:sp>
      <p:pic>
        <p:nvPicPr>
          <p:cNvPr id="28" name="Picture 27" descr="f_35eb421719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2347813" cy="61831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" y="301752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никаких сумм с Cₙᵏ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1371600"/>
            <a:ext cx="3566160" cy="2926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Письма и конверты</a:t>
            </a:r>
          </a:p>
        </p:txBody>
      </p:sp>
      <p:pic>
        <p:nvPicPr>
          <p:cNvPr id="32" name="Picture 31" descr="f_6e2c749eb3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057400"/>
            <a:ext cx="1290401" cy="4958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26279" y="301752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при любом n; индикаторы зависимы — неважно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1371600"/>
            <a:ext cx="3566160" cy="2926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Коллизии хешей</a:t>
            </a:r>
          </a:p>
        </p:txBody>
      </p:sp>
      <p:pic>
        <p:nvPicPr>
          <p:cNvPr id="36" name="Picture 35" descr="f_f432a4509d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2057400"/>
            <a:ext cx="1436766" cy="5227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19" y="301752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N = 365, m = 23: ≈ 0,69 пары с общим днём рождения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663440"/>
            <a:ext cx="11094415" cy="6400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6344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Представить величину суммой индикаторов и сложить вероятности — линейность работает и для зависимых слагаемых.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Дисперсия и 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Насколько далеко значения от центра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Дисперсия: мера разброса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same-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32945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0" y="132588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E(X − EX) = 0 всегда: отклонения разных знаков компенсируются. Модуль неудобен в вычислениях — берём квадрат.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651760"/>
            <a:ext cx="4690872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283464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Определение</a:t>
            </a:r>
          </a:p>
        </p:txBody>
      </p:sp>
      <p:pic>
        <p:nvPicPr>
          <p:cNvPr id="30" name="Picture 29" descr="f_b4bc150c4f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200400"/>
            <a:ext cx="2586776" cy="3972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43434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Обозначения: DX, Var(X), σ². Считается по формуле ожидания функции: Σ(xᵢ − EX)²pᵢ или ∫(x − EX)²f(x)dx.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Формула для вычисления дисперсии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cb563608b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3372368" cy="492861"/>
          </a:xfrm>
          <a:prstGeom prst="rect">
            <a:avLst/>
          </a:prstGeom>
        </p:spPr>
      </p:pic>
      <p:pic>
        <p:nvPicPr>
          <p:cNvPr id="27" name="Picture 26" descr="f_2db5a4ee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5863559" cy="307665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8640" y="3017520"/>
            <a:ext cx="3566160" cy="25146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Кубик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3108960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91/6 − 3,5² = 35/12 ≈ 2,92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017520"/>
            <a:ext cx="3566160" cy="2514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Грузы на стержне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611880"/>
            <a:ext cx="3108960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6,9 − 2,1² = 2,49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017520"/>
            <a:ext cx="3593592" cy="251460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320040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Ловушка в компьютере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611880"/>
            <a:ext cx="3136392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EX² и (EX)² — два близких больших числа. Для значений ~10¹² ответ может выйти даже отрицательным. numpy считает через отклонения от среднего.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Свойства дисперсии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852160" cy="4206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Всегда</a:t>
            </a:r>
          </a:p>
        </p:txBody>
      </p:sp>
      <p:pic>
        <p:nvPicPr>
          <p:cNvPr id="28" name="Picture 27" descr="f_ce0e003080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3479901" cy="334548"/>
          </a:xfrm>
          <a:prstGeom prst="rect">
            <a:avLst/>
          </a:prstGeom>
        </p:spPr>
      </p:pic>
      <p:pic>
        <p:nvPicPr>
          <p:cNvPr id="29" name="Picture 28" descr="f_a090eeb6a6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06039"/>
            <a:ext cx="1747418" cy="337535"/>
          </a:xfrm>
          <a:prstGeom prst="rect">
            <a:avLst/>
          </a:prstGeom>
        </p:spPr>
      </p:pic>
      <p:pic>
        <p:nvPicPr>
          <p:cNvPr id="30" name="Picture 29" descr="f_c9de357aa8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37560"/>
            <a:ext cx="1780275" cy="3375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4206240"/>
            <a:ext cx="5394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Сдвиг не меняет разброс, множитель выносится в квадрате: перевод метров в сантиметры умножает дисперсию на 10 000.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1325880"/>
            <a:ext cx="4965192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150876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Если X и Y независимы</a:t>
            </a:r>
          </a:p>
        </p:txBody>
      </p:sp>
      <p:pic>
        <p:nvPicPr>
          <p:cNvPr id="34" name="Picture 33" descr="f_fb3bcc9287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965960"/>
            <a:ext cx="2667426" cy="3674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03720" y="26974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Разность — тоже сумма! Погрешности не компенсируются.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3703320"/>
            <a:ext cx="4965192" cy="18288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388620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 общем случае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297680"/>
            <a:ext cx="4507992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D(X + Y) = DX + DY + 2·E[(X − EX)(Y − EY)]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Последнее слагаемое — ковариация (раздел о связи величин).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Дисперсия — наименьшая квадратичная ошибка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48704614f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501469" cy="46299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1945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2937"/>
                </a:solidFill>
                <a:latin typeface="Arial"/>
              </a:rPr>
              <a:t>Минимум по c достигается при c = EX и равен DX.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17520"/>
            <a:ext cx="5486400" cy="25146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Почему это важно для 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5029200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модель-константа с MSE → предсказывает среднее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с MAE → медиану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DY — MSE «самой глупой» модели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R² = 1 − MSE / DY сравнивает модель с ней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017520"/>
            <a:ext cx="5239512" cy="2514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20040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Доказательство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611880"/>
            <a:ext cx="4782312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E((X − EX) + (EX − c))² = DX + 2(EX − c)·E(X − EX) + (EX − c)²,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а средний член равен нулю.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Ожидание и дисперсия основных распределений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325880"/>
          <a:ext cx="69494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57550"/>
                <a:gridCol w="1737360"/>
                <a:gridCol w="195453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Arial"/>
                        </a:rPr>
                        <a:t>Распределение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937"/>
                          </a:solidFill>
                          <a:latin typeface="Arial"/>
                        </a:rPr>
                        <a:t>EX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937"/>
                          </a:solidFill>
                          <a:latin typeface="Arial"/>
                        </a:rPr>
                        <a:t>DX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Бернулли Be(p)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p(1 − 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Биномиальное B(n, 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np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np(1 − 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Геометрическое Geom(p)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1/p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(1 − p)/p²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Пуассона Pois(λ)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Равномерное U(a; b)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(a + b)/2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(b − a)²/12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Показательное Exp(λ)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1/λ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1/λ²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Нормальное N(μ, σ²)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σ²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7863840" y="1325880"/>
            <a:ext cx="3776472" cy="3657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1508760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Как получить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319272" cy="2971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Бернулли: I² = I, DX = p − p²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биномиальное: сумма n независимых индикаторов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Пуассон: E X(X − 1) = λ², отсюда DX = λ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у Пуассона EX = DX — «отпечаток пальца» для проверки модели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Стандартное отклонение и стандартизация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703a6a951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822094" cy="48987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19456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В тех же единицах, что X: «120 ± 30 мс». Дисперсия была бы в мс².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σ(aX + c) = |a|σ;  для независимых σ(X + Y) = √(σ²_X + σ²_Y) — «по Пифагору».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325880"/>
            <a:ext cx="5239512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50876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Стандартизация, z-оценка</a:t>
            </a:r>
          </a:p>
        </p:txBody>
      </p:sp>
      <p:pic>
        <p:nvPicPr>
          <p:cNvPr id="30" name="Picture 29" descr="f_960e329785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920240"/>
            <a:ext cx="3802501" cy="585459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400800" y="3703320"/>
            <a:ext cx="5239512" cy="18288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88620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 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297680"/>
            <a:ext cx="4782312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StandardScaler для признаков, batch normalization для активаций нейросети (Николенко и др., 4.3).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886200"/>
            <a:ext cx="5577840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069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Коэффициент вариации σ/EX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480560"/>
            <a:ext cx="512064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безразмерный разброс: у Exp — 1, у Pois(λ) — 1/√λ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Неравенства Маркова и Чебышёва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Марков: X ≥ 0, a &gt; 0</a:t>
            </a:r>
          </a:p>
        </p:txBody>
      </p:sp>
      <p:pic>
        <p:nvPicPr>
          <p:cNvPr id="27" name="Picture 26" descr="f_3caf1375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2073005" cy="6511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2697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Чебышёв: любая X с конечной дисперсией</a:t>
            </a:r>
          </a:p>
        </p:txBody>
      </p:sp>
      <p:pic>
        <p:nvPicPr>
          <p:cNvPr id="29" name="Picture 28" descr="f_cf3f1f23ba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3085612" cy="6959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41148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Доказательство: X ≥ a·I{X ≥ a}, берём ожидание. Чебышёв — Марков для (X − EX)² и порога k²σ².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1325880"/>
            <a:ext cx="5239512" cy="1920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50876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Пример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20240"/>
            <a:ext cx="478231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Среднее время ответа 200 мс → ответов дольше 2 с не больше 10 % при любом распределении.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429000"/>
            <a:ext cx="5239512" cy="21031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61188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Для любого распределения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023360"/>
            <a:ext cx="478231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вне EX ± 2σ — не более 25 %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вне EX ± 3σ — не более 11 %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(у нормального: 4,6 % и 0,27 %)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Чебышёв против реальных хвостов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hebysh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400800" cy="3187588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315200" y="1325880"/>
            <a:ext cx="4325112" cy="20116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50876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Грубо, но универсально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920240"/>
            <a:ext cx="38679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Граница верна для всех распределений, поэтому для конкретного она почти всегда с запасом.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520440"/>
            <a:ext cx="4325112" cy="201168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370332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«Правило трёх сигм»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4114800"/>
            <a:ext cx="38679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Только для близких к нормальному. Поиск аномалий по |z| &gt; 3 на тяжёлых хвостах даёт много ложных срабатываний.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Моменты: форма распределения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28c1403b2c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214713" cy="3972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1488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Начальные и центральные моменты: ν₁ = EX, μ₂ = DX, μ₁ =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834640"/>
            <a:ext cx="5394960" cy="26974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Асимметрия</a:t>
            </a:r>
          </a:p>
        </p:txBody>
      </p:sp>
      <p:pic>
        <p:nvPicPr>
          <p:cNvPr id="30" name="Picture 29" descr="f_62130475ce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1206764" cy="3375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40690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0 у симметричных, &gt; 0 при длинном правом хвосте (у Exp — 2). pandas: df.skew()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834640"/>
            <a:ext cx="5394960" cy="26974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Эксцесс</a:t>
            </a:r>
          </a:p>
        </p:txBody>
      </p:sp>
      <p:pic>
        <p:nvPicPr>
          <p:cNvPr id="34" name="Picture 33" descr="f_9323066616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337560"/>
            <a:ext cx="1624949" cy="33753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73952" y="40690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0 у нормального, &gt; 0 при более тяжёлых хвостах. pandas: df.kurt()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Суммы, ковариация, корреляция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Как ведут себя несколько величин вместе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Среднее n наблюдений: закон √n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f9dcbc54b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919654" cy="740785"/>
          </a:xfrm>
          <a:prstGeom prst="rect">
            <a:avLst/>
          </a:prstGeom>
        </p:spPr>
      </p:pic>
      <p:pic>
        <p:nvPicPr>
          <p:cNvPr id="27" name="Picture 26" descr="04-sqrt-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7498079" cy="3097891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321040" y="2286000"/>
            <a:ext cx="3319272" cy="32461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468880"/>
            <a:ext cx="2862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Стандартная ошибка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880360"/>
            <a:ext cx="2862072" cy="256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Вдвое точнее — вчетверо больше данных.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На σ/√n основаны доверительные интервалы и размер выборки в опросах и измерениях.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Закон больших чисел из неравенства Чебышёва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329f16f176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284073" cy="82442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X₁, …, Xₙ независимы и одинаково распределены: среднее сходится к математическому ожиданию.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63240"/>
            <a:ext cx="6035040" cy="24688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2461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Сколько опросить?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57600"/>
            <a:ext cx="5577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Доля довольных с точностью ± 0,05 с вероятностью ≥ 95 %. Индикатор: σ² ≤ 1/4.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(1/4) / (n · 0,05²) ≤ 0,05  →  n ≥ 2000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3063240"/>
            <a:ext cx="4782312" cy="24688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3246120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Дальше в курсе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657600"/>
            <a:ext cx="432511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Центральная предельная теорема даст точнее: n ≈ 385. Чебышёв не знает формы распределения и платит за это запасом.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Ковариация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ov-quadr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025120" cy="4297680"/>
          </a:xfrm>
          <a:prstGeom prst="rect">
            <a:avLst/>
          </a:prstGeom>
        </p:spPr>
      </p:pic>
      <p:pic>
        <p:nvPicPr>
          <p:cNvPr id="27" name="Picture 26" descr="f_87c51ada70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4089257" cy="367405"/>
          </a:xfrm>
          <a:prstGeom prst="rect">
            <a:avLst/>
          </a:prstGeom>
        </p:spPr>
      </p:pic>
      <p:pic>
        <p:nvPicPr>
          <p:cNvPr id="28" name="Picture 27" descr="f_a04affb2d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103120"/>
            <a:ext cx="2458333" cy="3674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9360" y="274320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Произведение отклонений &gt; 0, когда X и Y одновременно выше (или ниже) своих средних. У Гмурмана — корреляционный момент.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703320"/>
            <a:ext cx="5330952" cy="18288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3886200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Рассылка и покупка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537960" y="4114800"/>
          <a:ext cx="2377440" cy="98755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92480"/>
                <a:gridCol w="792480"/>
                <a:gridCol w="7924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Y=0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Y=1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X=0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X=1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9098280" y="411480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EX = 0,5, EY = 0,4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E(XY) = 0,3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cov = 0,3 − 0,2 = 0,1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Свойства ковариации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669280" cy="4206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_77ad64916f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1651833" cy="307665"/>
          </a:xfrm>
          <a:prstGeom prst="rect">
            <a:avLst/>
          </a:prstGeom>
        </p:spPr>
      </p:pic>
      <p:pic>
        <p:nvPicPr>
          <p:cNvPr id="28" name="Picture 27" descr="f_7b02fb4ca2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31720"/>
            <a:ext cx="2153655" cy="307665"/>
          </a:xfrm>
          <a:prstGeom prst="rect">
            <a:avLst/>
          </a:prstGeom>
        </p:spPr>
      </p:pic>
      <p:pic>
        <p:nvPicPr>
          <p:cNvPr id="29" name="Picture 28" descr="f_f23982366e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08960"/>
            <a:ext cx="2512100" cy="307665"/>
          </a:xfrm>
          <a:prstGeom prst="rect">
            <a:avLst/>
          </a:prstGeom>
        </p:spPr>
      </p:pic>
      <p:pic>
        <p:nvPicPr>
          <p:cNvPr id="30" name="Picture 29" descr="f_26ad5a56d5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86200"/>
            <a:ext cx="4250557" cy="307665"/>
          </a:xfrm>
          <a:prstGeom prst="rect">
            <a:avLst/>
          </a:prstGeom>
        </p:spPr>
      </p:pic>
      <p:pic>
        <p:nvPicPr>
          <p:cNvPr id="31" name="Picture 30" descr="f_f8662504c0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663440"/>
            <a:ext cx="2288072" cy="307665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492240" y="1325880"/>
            <a:ext cx="5148072" cy="4206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15087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Дисперсия суммы</a:t>
            </a:r>
          </a:p>
        </p:txBody>
      </p:sp>
      <p:pic>
        <p:nvPicPr>
          <p:cNvPr id="34" name="Picture 33" descr="f_16df7c178f0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1920240"/>
            <a:ext cx="3527694" cy="307665"/>
          </a:xfrm>
          <a:prstGeom prst="rect">
            <a:avLst/>
          </a:prstGeom>
        </p:spPr>
      </p:pic>
      <p:pic>
        <p:nvPicPr>
          <p:cNvPr id="35" name="Picture 34" descr="f_ca132998e71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2743200"/>
            <a:ext cx="3677046" cy="5048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38404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Положительная ковариация увеличивает разброс суммы, отрицательная — уменьшает.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Диверсификация: ковариация управляет риском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400800" cy="3290477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315200" y="1325880"/>
            <a:ext cx="4325112" cy="2377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50876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Портфель ½X + ½Y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920240"/>
            <a:ext cx="3867912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σ_X = 0,2, σ_Y = 0,3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ρ = 0,5 → σ ≈ 0,22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ρ = 0 → σ ≈ 0,18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ρ = −0,5 → σ ≈ 0,13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886200"/>
            <a:ext cx="432511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406908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Ансамбли моделей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4480560"/>
            <a:ext cx="386791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Усреднение слабо коррелированных моделей уменьшает дисперсию прогноза — тот же эффект.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Ковариационная матрица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0e7ab58f87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272784" cy="379354"/>
          </a:xfrm>
          <a:prstGeom prst="rect">
            <a:avLst/>
          </a:prstGeom>
        </p:spPr>
      </p:pic>
      <p:pic>
        <p:nvPicPr>
          <p:cNvPr id="27" name="Picture 26" descr="f_ee77275e7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2846649" cy="39727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8640" y="3200400"/>
            <a:ext cx="3566160" cy="2331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Свойства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794760"/>
            <a:ext cx="310896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на диагонали — дисперсии; симметрична; неотрицательно определена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200400"/>
            <a:ext cx="3566160" cy="23317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Многомерное нормальное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794760"/>
            <a:ext cx="310896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Σ — его параметр: вся структура зависимостей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200400"/>
            <a:ext cx="3593592" cy="2331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338328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PCA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794760"/>
            <a:ext cx="3136392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ищет направления a, где aᵀΣa максимальна («Математика для МО», гл. 10)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Коэффициент корреляции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52baebbc7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3037819" cy="84234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37744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Ковариация зависит от единиц (см → м меняет её в 100 раз). Корреляция — ковариация стандартизованных величин, безразмерна.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325880"/>
            <a:ext cx="5696712" cy="22860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1508760"/>
            <a:ext cx="5239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Теорема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1920240"/>
            <a:ext cx="5239512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1. −1 ≤ ρ ≤ 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2. |ρ| = 1 ⇔ Y = aX + b (знак ρ = знак a)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Доказательство: 0 ≤ D(U ∓ V) = 2(1 ∓ ρ) для стандартизованных U, V.</a:t>
            </a:r>
          </a:p>
        </p:txBody>
      </p:sp>
      <p:pic>
        <p:nvPicPr>
          <p:cNvPr id="31" name="Picture 30" descr="04-corr-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0"/>
            <a:ext cx="11091672" cy="194764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Некоррелированы ≠ независимы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orr-tr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91672" cy="314356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48640" y="4572000"/>
            <a:ext cx="5486400" cy="109728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754880"/>
            <a:ext cx="50292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X ~ U(−1; 1), Y = X²: cov = EX³ − EX·EX² = 0, а зависимость функциональная.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4572000"/>
            <a:ext cx="5394960" cy="10972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4754880"/>
            <a:ext cx="493776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ρ измеряет только линейную связь. Исключение: для совместно нормальных ρ = 0 ⇔ независимость.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Ловушки корреляции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Нелинейность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ρ ≈ 0 при сильной связи. Смотрите на диаграмму рассеяния.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132588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Выбросы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Одна точка создаёт или уничтожает корреляцию. Устойчиво: Спирмен, df.corr(method="spearman").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1325880"/>
            <a:ext cx="3566160" cy="196596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Причинность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Мороженое и утопления коррелированы из-за лета (конфаундер). Причинность — через эксперимент.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Парадокс Симпсона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Знак корреляции в общих данных бывает противоположен знаку внутри каждой группы.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7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Тренды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7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Два растущих ряда почти всегда коррелированы. Анализируйте приращения.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1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Пороги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1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«Слабая/сильная» связь — условность предметной области, а не закон.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Корреляция и линейная регрессия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Лучшее приближение Y ≈ a + bX в смысле E(Y − a − bX)² → min:</a:t>
            </a:r>
          </a:p>
        </p:txBody>
      </p:sp>
      <p:pic>
        <p:nvPicPr>
          <p:cNvPr id="27" name="Picture 26" descr="f_55a8492dfa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382646" cy="725850"/>
          </a:xfrm>
          <a:prstGeom prst="rect">
            <a:avLst/>
          </a:prstGeom>
        </p:spPr>
      </p:pic>
      <p:pic>
        <p:nvPicPr>
          <p:cNvPr id="28" name="Picture 27" descr="f_77a7504ddf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4444715" cy="39727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48640" y="3886200"/>
            <a:ext cx="5669280" cy="1645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069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Смысл ρ²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480560"/>
            <a:ext cx="521208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доля дисперсии Y, объяснённая линейной функцией от X. При ρ = 0,5 — всего 25 %.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886200"/>
            <a:ext cx="514807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4069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80560"/>
            <a:ext cx="469087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a — из раздела про MSE, затем D(Y − bX) — парабола по b.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Характеристики в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От теоретических величин — к выборочным оценкам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Выборочные аналоги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325880"/>
          <a:ext cx="6949438" cy="33284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2606039"/>
                <a:gridCol w="2606039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Оценка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EX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x̄ = Σxᵢ / 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x.mean()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s² = Σ(xᵢ − x̄)² / (n − 1)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np.var(x, ddof=1)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np.std(x, ddof=1)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cov(X,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Σ(xᵢ − x̄)(yᵢ − ȳ) / (n − 1)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np.cov(x,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ρ(X,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np.corrcoef(x,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всё сразу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df.describe(), df.cov(), df.corr()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7863840" y="1325880"/>
            <a:ext cx="3776472" cy="42062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1508760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ddof: n или n − 1?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319272" cy="3520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numpy по умолчанию делит на n, pandas — на n − 1.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Деление на n − 1 даёт несмещённую оценку: E s² = σ². Отклонения считаются от x̄, «подогнанного» под выборку, поэтому они в среднем меньше.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Проверим на семинаре.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Где это встречается в машинном обучении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3566160" cy="1965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MSE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E(Y − Ŷ)²; регрессия с MSE предсказывает условное среднее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132588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Bias–variance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ошибка = смещение² + дисперсия прогноза (Мёрфи, 4.7.6)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1325880"/>
            <a:ext cx="3566160" cy="1965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Инициализация весов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D(Σwₖxₖ) ≈ n·σ²_w·Ex², поэтому σ²_w ~ 1/n (Ксавье, Хе)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Мини-батчи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градиент — среднее B слагаемых, разброс ~ 1/√B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7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Мультиколлинеарность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7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сильно коррелированные признаки делают коэффициенты неустойчивыми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1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PCA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1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собственные векторы ковариационной матрицы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Сквозной пример: время ответа и нагрузка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Arial"/>
              </a:rPr>
              <a:t>ET = 180 мс, σ_T = 60 мс; EN = 40 запросов, σ_N = 10; ρ(T, N) = 0,7.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011680"/>
            <a:ext cx="5422392" cy="1645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19456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Доля ответов &gt; 420 мс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60604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420 = 180 + 4σ → по Чебышёву ≤ 1/16 ≈ 6,3 %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(Марков: ≤ 43 %)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011680"/>
            <a:ext cx="542239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219456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Прогноз по нагрузке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60604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b = 0,7 · 60/10 = 4,2 мс на запрос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 ≈ 180 + 4,2(N − 40); при N = 60 → 264 мс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794760"/>
            <a:ext cx="542239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97764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Что объясняет нагрузка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38912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ρ² = 0,49 — около половины разброса;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остаток σ ≈ 60·√0,51 ≈ 43 мс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794760"/>
            <a:ext cx="5422392" cy="1645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97764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Среднее 100 запросов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438912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σ/√n = 60/10 = 6 мс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Итоги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28016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EX — центр масс и долгосрочное среднее; существует не всегда.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182880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1828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Линейность E работает для любых величин; E(XY) = EX·EY — только для независимых.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37744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2377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DX = EX² − (EX)²; D(aX + c) = a²DX; σ — в единицах 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29260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26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Чебышёв: вне EX ± kσ не более 1/k² для любого распределения.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47472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34747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Разброс среднего n наблюдений — σ/√n; отсюда закон больших чисел.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2336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40233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Ковариация — совместный разброс; D(X + Y) = DX + DY + 2cov.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7200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5720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ρ ∈ [−1; 1] измеряет только линейную связь и не означает причинность.</a:t>
            </a:r>
          </a:p>
        </p:txBody>
      </p:sp>
      <p:sp>
        <p:nvSpPr>
          <p:cNvPr id="40" name="Rectangle 37"/>
          <p:cNvSpPr/>
          <p:nvPr/>
        </p:nvSpPr>
        <p:spPr>
          <a:xfrm>
            <a:off x="548640" y="512064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38"/>
          <p:cNvSpPr txBox="1"/>
          <p:nvPr/>
        </p:nvSpPr>
        <p:spPr>
          <a:xfrm>
            <a:off x="868680" y="5120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Факторный анализ: R = ΛΛᵀ + Ψ; нагрузка — корреляция признака с фактором; поворот не меняет 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Литература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71600"/>
            <a:ext cx="1109167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Гмурман В. Е. Теория вероятностей и математическая статистика — гл. 7–9, 12, 14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Мёрфи К. П. Вероятностное машинное обучение: введение — разд. 2.2.5, 2.8.4, 3.1, 4.7.6, 20.2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Николенко С. и др. Глубокое обучение. Погружение в мир нейронных сетей — разд. 2.2, 4.2, 4.3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Дайзенрот М. П. и др. Математика для машинного обучения — разд. 6.4, гл.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Конспект с полными формулировками и доказательствами: 04_expectation-variance-itmo.md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Факторный анализ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Скрытые причины корреляций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Идея: корреляции из-за скрытых факторов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4" name="Picture 3" descr="04-fa-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949440" cy="319399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26679" y="1280160"/>
            <a:ext cx="3913632" cy="1874519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463039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Спирмен, 1904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847088"/>
            <a:ext cx="3456432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Оценки по разным предметам коррелированы. Гипотеза: за ними стоят несколько скрытых способностей.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291840"/>
            <a:ext cx="3913632" cy="1783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3474720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Где применяют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858768"/>
            <a:ext cx="345643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тесты личности и анкеты, маркетинговые опросы, доходности акций (рыночный и отраслевые факторы)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6 контрольных, 800 школьников: два блока корреляций и два собственных числа больше 1 → два фактора.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Модель факторного анализа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4" name="Picture 3" descr="f_06195f64e56bd8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172456" cy="5455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01168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Xᵢ стандартизованы; общие факторы Fⱼ: E = 0, D = 1, некоррелированы; специфические εᵢ: D = ψᵢ, некоррелированы ни с чем.</a:t>
            </a:r>
          </a:p>
        </p:txBody>
      </p:sp>
      <p:pic>
        <p:nvPicPr>
          <p:cNvPr id="6" name="Picture 5" descr="f_d862bba943ad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4206240" cy="699540"/>
          </a:xfrm>
          <a:prstGeom prst="rect">
            <a:avLst/>
          </a:prstGeom>
        </p:spPr>
      </p:pic>
      <p:pic>
        <p:nvPicPr>
          <p:cNvPr id="7" name="Picture 6" descr="f_c887e671585fac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0"/>
            <a:ext cx="5669280" cy="71209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37960" y="1280160"/>
            <a:ext cx="5102352" cy="17373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63039"/>
            <a:ext cx="4645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Нагрузка = корреляция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47088"/>
            <a:ext cx="46451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cov(Xᵢ, Fⱼ) = λᵢⱼ, дисперсии равны 1, значит λᵢⱼ = ρ(Xᵢ, Fⱼ). Общность h² — доля дисперсии, объяснённая факторами.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3154680"/>
            <a:ext cx="5102352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3337560"/>
            <a:ext cx="4645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Один фактор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721608"/>
            <a:ext cx="464515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λ = (0,9; 0,8; 0,7) ⇒ ρ₁₂ = 0,72, ρ₁₃ = 0,63, ρ₂₃ = 0,56;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общности 0,81, 0,64, 0,49. Шум εᵢ в корреляции не входит.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Всё выводится из свойств дисперсии и ковариации: корреляции создают только общие факторы.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Вращение и интерпретация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4" name="Picture 3" descr="04-fa-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675120" cy="3266822"/>
          </a:xfrm>
          <a:prstGeom prst="rect">
            <a:avLst/>
          </a:prstGeom>
        </p:spPr>
      </p:pic>
      <p:pic>
        <p:nvPicPr>
          <p:cNvPr id="5" name="Picture 4" descr="f_42d7fb29462eb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25880"/>
            <a:ext cx="3685032" cy="5516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2011680"/>
            <a:ext cx="4142232" cy="14630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2194560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Решение не единственно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2578608"/>
            <a:ext cx="368503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поворот Q и смена знака фактора дают ту же R; общности h² не меняются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611880"/>
            <a:ext cx="4142232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3794760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Varimax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178808"/>
            <a:ext cx="368503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поворот к «простой структуре»: у признака одна большая нагрузка. Название фактора даёт человек.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После вращения: фактор 1 — точные науки (0,7–0,9), фактор 2 — гуманитарные предметы.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Факторный анализ на практике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3566160" cy="1920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Сколько факторов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Σ собственных чисел R = 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Кайзер: λ &gt; 1; «каменистая осыпь»: до локтя.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97679" y="1280160"/>
          <a:ext cx="734263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2560320"/>
                <a:gridCol w="33192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PCA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Факторный анализ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объясняет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всю дисперсию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общую часть, корреляции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поворот осей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R = ΛΛᵀ + Ψ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шум εᵢ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 компонентах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отделён в ψᵢ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383280"/>
            <a:ext cx="11094415" cy="16916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Ловушки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Обратные вопросы дают отрицательные нагрузки: группируйте по |λ|.  Малая общность (h² &lt; 0,2) — признак без общего фактора.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Нужно n ≫ d (хотя бы 100–200 наблюдений).  Факторы описывают корреляции, а не причины.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FactorAnalysis(n_components=2, rotation="varimax").fit(Z): нагрузки .components_.T, ψ — .noise_variance_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bability ITMO">
  <a:themeElements>
    <a:clrScheme name="Probability ITMO">
      <a:dk1>
        <a:srgbClr val="1F2937"/>
      </a:dk1>
      <a:lt1>
        <a:srgbClr val="FFFFFF"/>
      </a:lt1>
      <a:dk2>
        <a:srgbClr val="6B7280"/>
      </a:dk2>
      <a:lt2>
        <a:srgbClr val="F5F7FA"/>
      </a:lt2>
      <a:accent1>
        <a:srgbClr val="3B82F6"/>
      </a:accent1>
      <a:accent2>
        <a:srgbClr val="D6EEF8"/>
      </a:accent2>
      <a:accent3>
        <a:srgbClr val="F28C28"/>
      </a:accent3>
      <a:accent4>
        <a:srgbClr val="FDE9D3"/>
      </a:accent4>
      <a:accent5>
        <a:srgbClr val="E5E7EB"/>
      </a:accent5>
      <a:accent6>
        <a:srgbClr val="10B981"/>
      </a:accent6>
      <a:hlink>
        <a:srgbClr val="3B82F6"/>
      </a:hlink>
      <a:folHlink>
        <a:srgbClr val="6B7280"/>
      </a:folHlink>
    </a:clrScheme>
    <a:fontScheme name="Probability ITM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3. Случайные величины и распределения</dc:title>
  <dc:subject>PptxGenJS Presentation</dc:subject>
  <dc:creator>Курс «Теория вероятностей», ИТМО</dc:creator>
  <cp:lastModifiedBy>Курс «Теория вероятностей», ИТМО</cp:lastModifiedBy>
  <cp:revision>1</cp:revision>
  <dcterms:created xsi:type="dcterms:W3CDTF">2026-10-14T12:57:15Z</dcterms:created>
  <dcterms:modified xsi:type="dcterms:W3CDTF">2026-10-14T12:57:15Z</dcterms:modified>
</cp:coreProperties>
</file>