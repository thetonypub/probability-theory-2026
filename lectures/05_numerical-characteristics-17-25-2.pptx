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5f105f5-528e-1bbc-1375-6bef619ea4c5}">
          <p14:sldIdLst>
            <p14:sldId id="256"/>
            <p14:sldId id="257"/>
            <p14:sldId id="258"/>
          </p14:sldIdLst>
        </p14:section>
        <p14:section name="Случайная величина" id="{54f787ba-b33d-ce33-8649-a3c6963b06cf}">
          <p14:sldIdLst>
            <p14:sldId id="259"/>
            <p14:sldId id="260"/>
            <p14:sldId id="261"/>
            <p14:sldId id="262"/>
          </p14:sldIdLst>
        </p14:section>
        <p14:section name="Дискретные величины" id="{8eebc759-f193-4ffa-8c70-18bf82f13175}">
          <p14:sldIdLst>
            <p14:sldId id="263"/>
            <p14:sldId id="264"/>
          </p14:sldIdLst>
        </p14:section>
        <p14:section name="Функция распределения" id="{78f22b51-6829-bbbf-64df-7f28e6491fc3}">
          <p14:sldIdLst>
            <p14:sldId id="265"/>
            <p14:sldId id="266"/>
            <p14:sldId id="267"/>
            <p14:sldId id="268"/>
          </p14:sldIdLst>
        </p14:section>
        <p14:section name="Непрерывные величины" id="{205b3bd2-6af9-d82b-76d3-7b4f9a3ff20d}">
          <p14:sldIdLst>
            <p14:sldId id="269"/>
            <p14:sldId id="270"/>
            <p14:sldId id="271"/>
            <p14:sldId id="272"/>
            <p14:sldId id="273"/>
          </p14:sldIdLst>
        </p14:section>
        <p14:section name="Квантили и данные" id="{e78002c4-cc46-ce93-55b7-50fbad578964}">
          <p14:sldIdLst>
            <p14:sldId id="274"/>
            <p14:sldId id="275"/>
            <p14:sldId id="276"/>
          </p14:sldIdLst>
        </p14:section>
        <p14:section name="Основные распределения" id="{be7bda4b-715d-71f3-97f4-292c16ec1c2b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Распределения в анализе данных" id="{712c89dc-8652-d2e2-ad9e-178474a6b279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Итоги" id="{779caeee-8ad6-958a-685f-ae6691fa3111}">
          <p14:sldIdLst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1109441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3B82F6"/>
                </a:solidFill>
                <a:latin typeface="Arial"/>
              </a:rPr>
              <a:t>ТЕОРИЯ ВЕРОЯТНОСТЕЙ · ЛЕКЦИЯ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3800" b="1">
                <a:solidFill>
                  <a:srgbClr val="1F2937"/>
                </a:solidFill>
                <a:latin typeface="Arial"/>
              </a:rPr>
              <a:t>Числовые</a:t>
            </a:r>
          </a:p>
          <a:p>
            <a:pPr>
              <a:spcAft>
                <a:spcPts val="400"/>
              </a:spcAft>
            </a:pPr>
            <a:r>
              <a:rPr sz="3800" b="1">
                <a:solidFill>
                  <a:srgbClr val="1F2937"/>
                </a:solidFill>
                <a:latin typeface="Arial"/>
              </a:rPr>
              <a:t>характеристики</a:t>
            </a:r>
          </a:p>
          <a:p>
            <a:pPr>
              <a:spcAft>
                <a:spcPts val="400"/>
              </a:spcAft>
            </a:pPr>
            <a:r>
              <a:rPr sz="3800" b="1">
                <a:solidFill>
                  <a:srgbClr val="1F2937"/>
                </a:solidFill>
                <a:latin typeface="Arial"/>
              </a:rPr>
              <a:t>случайных величин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Среднее, разброс и форма распределения: как описать закон несколькими числами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0" y="457200"/>
            <a:ext cx="3108960" cy="31089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a48baa40b70baf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600200"/>
            <a:ext cx="2432304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РГАУ-МСХА · группа 17-25-2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Зачем нужны числовые характеристики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Закон распределения описывает величину полностью, но это таблица или функция. Часто достаточно нескольких чисел.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6035040" cy="7315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Где «центр» значений?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7744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положение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6035040" cy="7315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Насколько значения разбросаны?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24612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рассеяние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6035040" cy="7315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Симметрично ли распределение, какие у него «хвосты»?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11480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форма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280160"/>
            <a:ext cx="4690872" cy="36118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463039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ИЗ ПРОШЛЫХ ЛЕКЦИЙ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847088"/>
            <a:ext cx="423367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Дискретная величина: ряд распределения xᵢ, pᵢ, Σpᵢ = 1.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Непрерывная: плотность f(x), ∫ f(x) dx = 1.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Функция распределения F(x) — для обеих.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Сегодня: какие числа выбирать, как их считать и что они говорят о величине.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Классификация числовых характеристик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566160" cy="26517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Положения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92807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математическое ожидание M(X)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мода Mo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медиана 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325880"/>
            <a:ext cx="3566160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Рассеяния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1892807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• дисперсия D(X)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• среднее квадратическое отклонение σ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• коэффициент вариации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325880"/>
            <a:ext cx="3566160" cy="26517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Формы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892807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асимметрия As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эксцесс 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06240"/>
            <a:ext cx="1109441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Общий язык — моменты: </a:t>
            </a:r>
            <a:r>
              <a:rPr sz="1500" b="0">
                <a:solidFill>
                  <a:srgbClr val="1F2937"/>
                </a:solidFill>
                <a:latin typeface="Arial"/>
              </a:rPr>
              <a:t>начальные M(Xᵏ) и центральные M(X − M(X))ᵏ. Ожидание — первый начальный, дисперсия — второй центральный, As и Ex строятся из третьего и четвёртого.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Характеристики положения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Математическое ожидание, мода, медиана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Математическое ожидание дискретной величины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Сумма произведений значений на их вероятности:</a:t>
            </a:r>
          </a:p>
        </p:txBody>
      </p:sp>
      <p:pic>
        <p:nvPicPr>
          <p:cNvPr id="5" name="Picture 4" descr="f_fa5633bdfad14b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218688" cy="9966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834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Сквозной пример лекции: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246120"/>
          <a:ext cx="5029200" cy="7680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_954fbff3fbc987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06240"/>
            <a:ext cx="5760720" cy="421105"/>
          </a:xfrm>
          <a:prstGeom prst="rect">
            <a:avLst/>
          </a:prstGeom>
        </p:spPr>
      </p:pic>
      <p:pic>
        <p:nvPicPr>
          <p:cNvPr id="9" name="Picture 8" descr="running-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234440"/>
            <a:ext cx="4937760" cy="3389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Смысл ожидания: центр масс и «среднее в долгую»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pic>
        <p:nvPicPr>
          <p:cNvPr id="4" name="Picture 3" descr="center-of-m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035040" cy="26768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49440" y="1280160"/>
            <a:ext cx="4690872" cy="17373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463039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Механика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847088"/>
            <a:ext cx="42336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Разместим на оси грузы массой pᵢ в точках xᵢ. M(X) — точка, где стержень уравновешен.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3200400"/>
            <a:ext cx="4690872" cy="17373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3383280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Частоты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767328"/>
            <a:ext cx="42336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Повторим опыт n раз: среднее арифметическое наблюдений при большом n близко к M(X).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M(X) не обязано быть возможным значением: у игральной кости M(X) = 3,5.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Математическое ожидание непрерывной величины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Сумма заменяется интегралом, вероятность — f(x)dx:</a:t>
            </a:r>
          </a:p>
        </p:txBody>
      </p:sp>
      <p:pic>
        <p:nvPicPr>
          <p:cNvPr id="5" name="Picture 4" descr="f_b1ea38f8c38008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4669536" cy="126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2918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Пример: f(x) = 2x на [0; 1], вне отрезка 0.</a:t>
            </a:r>
          </a:p>
        </p:txBody>
      </p:sp>
      <p:pic>
        <p:nvPicPr>
          <p:cNvPr id="7" name="Picture 6" descr="f_2c03c2d174860d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39"/>
            <a:ext cx="3822191" cy="1021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2920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Равномерное на [a; b]: M(X) = (a + b)/2 — середина отрезка.</a:t>
            </a:r>
          </a:p>
        </p:txBody>
      </p:sp>
      <p:pic>
        <p:nvPicPr>
          <p:cNvPr id="9" name="Picture 8" descr="density-2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234440"/>
            <a:ext cx="4572000" cy="34785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Свойства математического ожидания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Константа</a:t>
            </a:r>
          </a:p>
        </p:txBody>
      </p:sp>
      <p:pic>
        <p:nvPicPr>
          <p:cNvPr id="5" name="Picture 4" descr="f_6cc61679e41ee2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1493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40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Множитель</a:t>
            </a:r>
          </a:p>
        </p:txBody>
      </p:sp>
      <p:pic>
        <p:nvPicPr>
          <p:cNvPr id="7" name="Picture 6" descr="f_e5f7fa291b670c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194560"/>
            <a:ext cx="2673096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108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Сумма (всегда)</a:t>
            </a:r>
          </a:p>
        </p:txBody>
      </p:sp>
      <p:pic>
        <p:nvPicPr>
          <p:cNvPr id="9" name="Picture 8" descr="f_17039b05c2dda9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063240"/>
            <a:ext cx="3883152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97763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Произведение</a:t>
            </a:r>
          </a:p>
        </p:txBody>
      </p:sp>
      <p:pic>
        <p:nvPicPr>
          <p:cNvPr id="11" name="Picture 10" descr="f_4a706d9607d031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931920"/>
            <a:ext cx="3160776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66160" y="4754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— только для независимых X и 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325880"/>
            <a:ext cx="3776472" cy="35661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50876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Пример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892807"/>
            <a:ext cx="331927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M(X) = 3, M(Y) = 2.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M(3X − 2Y + 5) =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= 3·3 − 2·2 + 5 = 10.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Независимость здесь не нужна.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Мода и медиана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394960" cy="18288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Мода 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92807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Наиболее вероятное значение (дискретная) или точка максимума плотности (непрерывная).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Бывают двух- и многомодальные распределения.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37560"/>
            <a:ext cx="5394960" cy="18288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Медиана 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04487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Значение, которое делит распределение пополам: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P(X &lt; Me) = P(X &gt; Me) = 1/2, то есть F(Me) = 1/2.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463040"/>
          <a:ext cx="5422392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2560320"/>
                <a:gridCol w="203911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Сквозной пример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f(x) = 2x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M(X)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2/3 ≈ 0,67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Mo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3  (F переходит 0,5 при x = 3)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Me² = 1/2 → Me ≈ 0,71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3749039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У дискретной величины медиану берут как точку, где F(x) впервые достигает 1/2. Если F равна 1/2 на целом промежутке, медианой считают любую его точку (часто середину).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Когда среднее, мода и медиана расходятся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pic>
        <p:nvPicPr>
          <p:cNvPr id="4" name="Picture 3" descr="mode-median-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766560" cy="42224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89520" y="1325880"/>
            <a:ext cx="4050791" cy="35661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508760"/>
            <a:ext cx="3593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Как 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892807"/>
            <a:ext cx="3593591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Симметричное унимодальное: M = Me = Mo.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Длинный правый хвост (доходы, время ожидания): Mo &lt; Me &lt; M.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Несколько очень больших значений «тянут» среднее, медиану — нет.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«Типичное» значение лучше описывает медиана, «среднее на одного» — ожидание.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Характеристики рассеяния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Дисперсия, среднее квадратическое отклонение, коэффициент вариации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Одного среднего мало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pic>
        <p:nvPicPr>
          <p:cNvPr id="4" name="Picture 3" descr="same-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766560" cy="38260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89520" y="1325880"/>
            <a:ext cx="4050791" cy="35661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508760"/>
            <a:ext cx="3593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Отклонение X − M(X)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892807"/>
            <a:ext cx="3593591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Его среднее всегда 0: плюсы и минусы гасят друг друга.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Поэтому усредняют квадрат отклонения — это и есть дисперсия.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Дисперсия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Определение</a:t>
            </a:r>
          </a:p>
        </p:txBody>
      </p:sp>
      <p:pic>
        <p:nvPicPr>
          <p:cNvPr id="5" name="Picture 4" descr="f_a885fe08668031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4309872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Рабочая формула</a:t>
            </a:r>
          </a:p>
        </p:txBody>
      </p:sp>
      <p:pic>
        <p:nvPicPr>
          <p:cNvPr id="7" name="Picture 6" descr="f_74f5c43a127220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4526280" cy="5212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023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Дискретная: M(X²) = Σ xᵢ² pᵢ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Непрерывная: M(X²) = ∫ x² f(x) dx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325880"/>
            <a:ext cx="4965192" cy="35661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5087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Считаем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7"/>
            <a:ext cx="450799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Сквозной пример: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M(X²) = 1·0,1 + 4·0,2 + 9·0,3 + 16·0,4 = 10,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D(X) = 10 − 3² = 1.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f(x) = 2x на [0; 1]: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M(X²) = ∫ x²·2x dx = 1/2,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D(X) = 1/2 − 4/9 = 1/18 ≈ 0,056.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Свойства дисперсии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Константа</a:t>
            </a:r>
          </a:p>
        </p:txBody>
      </p:sp>
      <p:pic>
        <p:nvPicPr>
          <p:cNvPr id="5" name="Picture 4" descr="f_ca821a567737f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1374648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40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Сдвиг</a:t>
            </a:r>
          </a:p>
        </p:txBody>
      </p:sp>
      <p:pic>
        <p:nvPicPr>
          <p:cNvPr id="7" name="Picture 6" descr="f_b4a1d9eb3c8dab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194560"/>
            <a:ext cx="2676144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108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Множитель</a:t>
            </a:r>
          </a:p>
        </p:txBody>
      </p:sp>
      <p:pic>
        <p:nvPicPr>
          <p:cNvPr id="9" name="Picture 8" descr="f_6c0ecc0f5f8c96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063240"/>
            <a:ext cx="271272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97763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Сумма и разность</a:t>
            </a:r>
          </a:p>
        </p:txBody>
      </p:sp>
      <p:pic>
        <p:nvPicPr>
          <p:cNvPr id="11" name="Picture 10" descr="f_dd6212484362b08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931920"/>
            <a:ext cx="3739896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66160" y="4754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— для независимых; при разности тоже «плюс»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325880"/>
            <a:ext cx="3776472" cy="35661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50876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Пример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892807"/>
            <a:ext cx="331927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X, Y независимы, D(X) = 1, D(Y) = 4.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D(3X − 2Y + 5) =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= 9·1 + 4·4 = 25,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σ = 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Среднее квадратическое отклонение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pic>
        <p:nvPicPr>
          <p:cNvPr id="4" name="Picture 3" descr="f_539b52431debb4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493008" cy="752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14600"/>
            <a:ext cx="5760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Дисперсия измеряется в квадратных единицах (см², руб²). σ возвращает исходные единицы, поэтому его удобно сравнивать со средним.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Сквозной пример: σ = 1. Для f(x) = 2x: σ = √(1/18) ≈ 0,24.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325880"/>
            <a:ext cx="4690872" cy="35661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508760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Правило трёх сигм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892807"/>
            <a:ext cx="423367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Для нормального закона почти все значения (99,7%) лежат в M(X) ± 3σ.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Для любой величины грубая оценка даёт неравенство Чебышёва: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P(|X − M| ≥ 3σ) ≤ 1/9.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Коэффициент вариации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pic>
        <p:nvPicPr>
          <p:cNvPr id="4" name="Picture 3" descr="f_a7efbc5963a703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288792" cy="826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032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Безразмерная мера: разброс в долях среднего. Позволяет сравнивать величины в разных единицах и масштабах (M(X) &gt; 0).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49039"/>
          <a:ext cx="5486400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Величина A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Величина B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0,5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949440" y="1325880"/>
            <a:ext cx="4690872" cy="35661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508760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Ориентиры, принятые в статистике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892807"/>
            <a:ext cx="423367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V ≤ 10% — изменчивость слабая;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10–20% — средняя;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20–33% — значительная;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&gt; 33% — совокупность неоднородна.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B разбросана сильнее A, хотя её σ в 10 раз меньше.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Характеристики основных распределений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5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2560320"/>
                <a:gridCol w="2103120"/>
                <a:gridCol w="222473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Распределение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Параметры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M(X)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D(X)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Биномиальное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n, p (q = 1 − p)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np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npq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Пуассона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λ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λ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λ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Геометрическое (номер 1-го успеха)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1/p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q/p²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Равномерное на [a; b]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a, b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(a + b)/2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(b − a)²/12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Показательное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λ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1/λ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1/λ²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Нормальное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a, σ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σ²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93776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93776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Пример: 100 выстрелов с p = 0,8 → M = 80, D = 100·0,8·0,2 = 16, σ = 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Моменты, асимметрия и эксцесс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Как числами описать форму распределения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Начальные и центральные моменты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394960" cy="18288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Начальный момент порядка k</a:t>
            </a:r>
          </a:p>
        </p:txBody>
      </p:sp>
      <p:pic>
        <p:nvPicPr>
          <p:cNvPr id="6" name="Picture 5" descr="f_9a759c5790c9f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965960"/>
            <a:ext cx="2057400" cy="5212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3337560"/>
            <a:ext cx="5394960" cy="18288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Центральный момент порядка k</a:t>
            </a:r>
          </a:p>
        </p:txBody>
      </p:sp>
      <p:pic>
        <p:nvPicPr>
          <p:cNvPr id="9" name="Picture 8" descr="f_4ec1554f319c88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977639"/>
            <a:ext cx="3785615" cy="52120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17920" y="1325880"/>
            <a:ext cx="5422392" cy="38404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Знакомые частные случаи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92807"/>
            <a:ext cx="4965192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ν₁ = M(X) — ожидание,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μ₁ = 0 всегда,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μ₂ = D(X) — дисперсия.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Дискретная: νₖ = Σ xᵢᵏ pᵢ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Непрерывная: νₖ = ∫ xᵏ f(x) dx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μ₃ отвечает за асимметрию, μ₄ — за «хвосты».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Центральные моменты через начальные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pic>
        <p:nvPicPr>
          <p:cNvPr id="4" name="Picture 3" descr="f_8e97f20677c473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2066543" cy="539496"/>
          </a:xfrm>
          <a:prstGeom prst="rect">
            <a:avLst/>
          </a:prstGeom>
        </p:spPr>
      </p:pic>
      <p:pic>
        <p:nvPicPr>
          <p:cNvPr id="5" name="Picture 4" descr="f_f22bfe50dff698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3584448" cy="545592"/>
          </a:xfrm>
          <a:prstGeom prst="rect">
            <a:avLst/>
          </a:prstGeom>
        </p:spPr>
      </p:pic>
      <p:pic>
        <p:nvPicPr>
          <p:cNvPr id="6" name="Picture 5" descr="f_40558cea33703a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29000"/>
            <a:ext cx="4953000" cy="5394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1325880"/>
            <a:ext cx="4050791" cy="35661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508760"/>
            <a:ext cx="3593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Зачем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892807"/>
            <a:ext cx="3593591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Начальные моменты считаются проще: не нужно вычитать среднее под знаком суммы или интеграла.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Формулы получаются раскрытием скобок (x − ν₁)ᵏ.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Для дискретной величины с несколькими значениями проще считать μₖ напрямую.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Асимметрия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  <p:pic>
        <p:nvPicPr>
          <p:cNvPr id="4" name="Picture 3" descr="f_c3e42d8381dd68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517904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14173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Деление на σ³ делает число безразмерным. У симметричного распределения As = 0.</a:t>
            </a:r>
          </a:p>
        </p:txBody>
      </p:sp>
      <p:pic>
        <p:nvPicPr>
          <p:cNvPr id="6" name="Picture 5" descr="skew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8778240" cy="34245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0" y="2560320"/>
            <a:ext cx="2194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As &gt; 0: длинный правый хвост.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As &lt; 0: длинный левый хвост.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Эксцесс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pic>
        <p:nvPicPr>
          <p:cNvPr id="4" name="Picture 3" descr="f_e6f00ed4112434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2313432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41732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Сравнение с нормальным законом, у которого μ₄/σ⁴ = 3, поэтому для него Ex = 0.</a:t>
            </a:r>
          </a:p>
        </p:txBody>
      </p:sp>
      <p:pic>
        <p:nvPicPr>
          <p:cNvPr id="6" name="Picture 5" descr="kurto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6583680" cy="33118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2377440"/>
            <a:ext cx="4050791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560320"/>
            <a:ext cx="3593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Как читать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944368"/>
            <a:ext cx="3593591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Ex &gt; 0: острая вершина, тяжёлые хвосты, чаще редкие большие отклонения.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Ex &lt; 0: плоская вершина, лёгкие хвосты.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Полный расчёт: дискретная величина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694944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  <a:gridCol w="914400"/>
                <a:gridCol w="14630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xᵢ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pᵢ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xᵢ − 3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−2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(xᵢ − 3)² pᵢ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μ₂ = 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(xᵢ − 3)³ pᵢ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−0,8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μ₃ = −0,6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(xᵢ − 3)⁴ pᵢ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μ₄ = 2,2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863840" y="1325880"/>
            <a:ext cx="3776472" cy="35661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Итог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892807"/>
            <a:ext cx="331927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M = 3, Mo = 4, Me = 3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D = 1, σ = 1, V ≈ 33%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As = −0,6 / 1³ = −0,6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Ex = 2,2 / 1⁴ − 3 = −0,8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Левый хвост и плоская вершина.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Полный расчёт: непрерывная величина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f(x) = 2x на [0; 1]. Начальные моменты:</a:t>
            </a:r>
          </a:p>
        </p:txBody>
      </p:sp>
      <p:pic>
        <p:nvPicPr>
          <p:cNvPr id="5" name="Picture 4" descr="f_c6fd049102b7b4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4114800" cy="1088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0632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ν₁ = 2/3,  ν₂ = 1/2,  ν₃ = 2/5,  ν₄ = 1/3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5943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μ₂ = 1/2 − 4/9 = 1/18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μ₃ = 2/5 − 3·(2/3)·(1/2) + 2·(8/27) = −1/135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μ₄ = 1/3 − 4·(2/3)(2/5) + 6·(4/9)(1/2) − 3·(16/81) = 1/135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325880"/>
            <a:ext cx="4325112" cy="35661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50876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Итог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892807"/>
            <a:ext cx="386791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M = 2/3, Mo = 1, Me ≈ 0,71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D = 1/18, σ ≈ 0,236, V ≈ 35%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As = μ₃/σ³ ≈ −0,57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Ex = μ₄/σ⁴ − 3 = 2,4 − 3 = −0,6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Проверка на компьютере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6400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087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import numpy as np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from scipy import stats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x = np.array([1, 2, 3, 4])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p = np.array([.1, .2, .3, .4])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X = stats.rv_discrete(values=(x, p))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X.stats(moments='mvsk')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# (3.0, 1.0, -0.6, -0.8)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stats.triang(c=1).stats(moments='mvsk')  # f = 2x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325880"/>
            <a:ext cx="4416552" cy="35661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508760"/>
            <a:ext cx="3959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mvsk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892807"/>
            <a:ext cx="395935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m — математическое ожидание,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v — дисперсия,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s — асимметрия,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k — эксцесс (уже с вычтенной 3).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Для данных: np.mean, np.var, stats.skew, stats.kurtosis.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5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011680"/>
                <a:gridCol w="3474720"/>
                <a:gridCol w="377921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Группа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Характеристика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Формула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Смысл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Положение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M(X)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Σ xᵢpᵢ,  ∫ x f(x) dx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центр масс, среднее в долгую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Mo, Me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max p или f;  F(Me) = 1/2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самое вероятное; середина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Рассеяние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D(X)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M(X²) − M²(X)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средний квадрат отклонения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σ, V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√D;  σ/M · 100%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разброс в единицах X; в долях M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Форма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As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μ₃ / σ³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скошенность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Ex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μ₄ / σ⁴ − 3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вершина и хвосты против нормального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84632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Ожидание складывается всегда; дисперсии складываются для независимых величин, σ — нет.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Вопросы для самопроверки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1. Может ли M(X) не совпадать ни с одним значением X? Пример.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2. Почему D(X − Y) = D(X) + D(Y), а не разность?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3. X — число очков на кости. Найдите M(X), D(X), Mo и Me.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4. Как изменятся M, D, σ, V и As, если все значения умножить на 10?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5. У какого распределения среднее больше медианы? Приведите пример из жизни.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6. Чему равны асимметрия и эксцесс нормального закона?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ability ITMO">
  <a:themeElements>
    <a:clrScheme name="Probability ITMO">
      <a:dk1>
        <a:srgbClr val="1F2937"/>
      </a:dk1>
      <a:lt1>
        <a:srgbClr val="FFFFFF"/>
      </a:lt1>
      <a:dk2>
        <a:srgbClr val="6B7280"/>
      </a:dk2>
      <a:lt2>
        <a:srgbClr val="F5F7FA"/>
      </a:lt2>
      <a:accent1>
        <a:srgbClr val="3B82F6"/>
      </a:accent1>
      <a:accent2>
        <a:srgbClr val="D6EEF8"/>
      </a:accent2>
      <a:accent3>
        <a:srgbClr val="F28C28"/>
      </a:accent3>
      <a:accent4>
        <a:srgbClr val="FDE9D3"/>
      </a:accent4>
      <a:accent5>
        <a:srgbClr val="E5E7EB"/>
      </a:accent5>
      <a:accent6>
        <a:srgbClr val="10B981"/>
      </a:accent6>
      <a:hlink>
        <a:srgbClr val="3B82F6"/>
      </a:hlink>
      <a:folHlink>
        <a:srgbClr val="6B7280"/>
      </a:folHlink>
    </a:clrScheme>
    <a:fontScheme name="Probability ITM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3. Случайные величины и распределения</dc:title>
  <dc:subject>PptxGenJS Presentation</dc:subject>
  <dc:creator>Курс «Теория вероятностей», ИТМО</dc:creator>
  <cp:lastModifiedBy>Курс «Теория вероятностей», ИТМО</cp:lastModifiedBy>
  <cp:revision>1</cp:revision>
  <dcterms:created xsi:type="dcterms:W3CDTF">2026-10-14T12:57:15Z</dcterms:created>
  <dcterms:modified xsi:type="dcterms:W3CDTF">2026-10-14T12:57:15Z</dcterms:modified>
</cp:coreProperties>
</file>