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c1fb8514ac4fc7" /><Relationship Type="http://schemas.openxmlformats.org/officeDocument/2006/relationships/extended-properties" Target="/docProps/app.xml" Id="Rc15492289a634f20" /><Relationship Type="http://schemas.openxmlformats.org/officeDocument/2006/relationships/officeDocument" Target="/ppt/presentation.xml" Id="R23902bf025d445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573c8bdf849b9"/>
  </p:sldMasterIdLst>
  <p:notesMasterIdLst>
    <p:notesMasterId xmlns:r="http://schemas.openxmlformats.org/officeDocument/2006/relationships" r:id="Rdc384bb97ac24a51"/>
  </p:notesMasterIdLst>
  <p:sldIdLst>
    <p:sldId xmlns:r="http://schemas.openxmlformats.org/officeDocument/2006/relationships" id="256" r:id="R55b549f3b0a14a5b"/>
    <p:sldId xmlns:r="http://schemas.openxmlformats.org/officeDocument/2006/relationships" id="257" r:id="Ra9f859d581af4ec4"/>
    <p:sldId xmlns:r="http://schemas.openxmlformats.org/officeDocument/2006/relationships" id="258" r:id="Rbd07522a587f4eee"/>
    <p:sldId xmlns:r="http://schemas.openxmlformats.org/officeDocument/2006/relationships" id="259" r:id="R28fd5184ce8f4b81"/>
    <p:sldId xmlns:r="http://schemas.openxmlformats.org/officeDocument/2006/relationships" id="260" r:id="R7034ed2c99844936"/>
    <p:sldId xmlns:r="http://schemas.openxmlformats.org/officeDocument/2006/relationships" id="261" r:id="Rdaa14ba10f194dc8"/>
    <p:sldId xmlns:r="http://schemas.openxmlformats.org/officeDocument/2006/relationships" id="262" r:id="Rcbf4422ff853416d"/>
    <p:sldId xmlns:r="http://schemas.openxmlformats.org/officeDocument/2006/relationships" id="263" r:id="Rad8207382c19476e"/>
    <p:sldId xmlns:r="http://schemas.openxmlformats.org/officeDocument/2006/relationships" id="264" r:id="Re74b7ffe2b3c4306"/>
    <p:sldId xmlns:r="http://schemas.openxmlformats.org/officeDocument/2006/relationships" id="265" r:id="R754cffcc354a484c"/>
    <p:sldId xmlns:r="http://schemas.openxmlformats.org/officeDocument/2006/relationships" id="266" r:id="Rb1a15467a76b47e1"/>
    <p:sldId xmlns:r="http://schemas.openxmlformats.org/officeDocument/2006/relationships" id="267" r:id="Rdde7e6e086ff404f"/>
    <p:sldId xmlns:r="http://schemas.openxmlformats.org/officeDocument/2006/relationships" id="268" r:id="R2edb5205760847e9"/>
    <p:sldId xmlns:r="http://schemas.openxmlformats.org/officeDocument/2006/relationships" id="269" r:id="Rdf4f927a73d04183"/>
    <p:sldId xmlns:r="http://schemas.openxmlformats.org/officeDocument/2006/relationships" id="270" r:id="Ree4e059ea0154f98"/>
    <p:sldId xmlns:r="http://schemas.openxmlformats.org/officeDocument/2006/relationships" id="271" r:id="Rb5b89ae6eed64d5e"/>
    <p:sldId xmlns:r="http://schemas.openxmlformats.org/officeDocument/2006/relationships" id="272" r:id="R8dc34552d39345d5"/>
    <p:sldId xmlns:r="http://schemas.openxmlformats.org/officeDocument/2006/relationships" id="273" r:id="Rcc23605916da40c1"/>
    <p:sldId xmlns:r="http://schemas.openxmlformats.org/officeDocument/2006/relationships" id="274" r:id="Rbcaa76f81b8c4376"/>
    <p:sldId xmlns:r="http://schemas.openxmlformats.org/officeDocument/2006/relationships" id="275" r:id="R1f5ebbb351ba4f5c"/>
    <p:sldId xmlns:r="http://schemas.openxmlformats.org/officeDocument/2006/relationships" id="276" r:id="R074c84714f614142"/>
    <p:sldId xmlns:r="http://schemas.openxmlformats.org/officeDocument/2006/relationships" id="277" r:id="R7dc7677326e34829"/>
    <p:sldId xmlns:r="http://schemas.openxmlformats.org/officeDocument/2006/relationships" id="278" r:id="R25534aa75b4a4023"/>
    <p:sldId xmlns:r="http://schemas.openxmlformats.org/officeDocument/2006/relationships" id="279" r:id="R2076bf0adf7f4344"/>
    <p:sldId xmlns:r="http://schemas.openxmlformats.org/officeDocument/2006/relationships" id="280" r:id="R1a066b73e3254d22"/>
    <p:sldId xmlns:r="http://schemas.openxmlformats.org/officeDocument/2006/relationships" id="281" r:id="Ra626be23f9934e4f"/>
    <p:sldId xmlns:r="http://schemas.openxmlformats.org/officeDocument/2006/relationships" id="282" r:id="R7e1ceef824eb44c4"/>
    <p:sldId xmlns:r="http://schemas.openxmlformats.org/officeDocument/2006/relationships" id="283" r:id="R0aa887d208ac4b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1742606ed4554" /><Relationship Type="http://schemas.openxmlformats.org/officeDocument/2006/relationships/slideMaster" Target="/ppt/slideMasters/slideMaster1.xml" Id="R4f8573c8bdf849b9" /><Relationship Type="http://schemas.openxmlformats.org/officeDocument/2006/relationships/notesMaster" Target="/ppt/notesMasters/notesMaster1.xml" Id="Rdc384bb97ac24a51" /><Relationship Type="http://schemas.openxmlformats.org/officeDocument/2006/relationships/presProps" Target="/ppt/presProps.xml" Id="Ra052220512444f5b" /><Relationship Type="http://schemas.openxmlformats.org/officeDocument/2006/relationships/tableStyles" Target="/ppt/tableStyles.xml" Id="R5262a673ce4343a6" /><Relationship Type="http://schemas.openxmlformats.org/officeDocument/2006/relationships/slide" Target="/ppt/slides/slide1.xml" Id="R55b549f3b0a14a5b" /><Relationship Type="http://schemas.openxmlformats.org/officeDocument/2006/relationships/slide" Target="/ppt/slides/slide2.xml" Id="Ra9f859d581af4ec4" /><Relationship Type="http://schemas.openxmlformats.org/officeDocument/2006/relationships/slide" Target="/ppt/slides/slide3.xml" Id="Rbd07522a587f4eee" /><Relationship Type="http://schemas.openxmlformats.org/officeDocument/2006/relationships/slide" Target="/ppt/slides/slide4.xml" Id="R28fd5184ce8f4b81" /><Relationship Type="http://schemas.openxmlformats.org/officeDocument/2006/relationships/slide" Target="/ppt/slides/slide5.xml" Id="R7034ed2c99844936" /><Relationship Type="http://schemas.openxmlformats.org/officeDocument/2006/relationships/slide" Target="/ppt/slides/slide6.xml" Id="Rdaa14ba10f194dc8" /><Relationship Type="http://schemas.openxmlformats.org/officeDocument/2006/relationships/slide" Target="/ppt/slides/slide7.xml" Id="Rcbf4422ff853416d" /><Relationship Type="http://schemas.openxmlformats.org/officeDocument/2006/relationships/slide" Target="/ppt/slides/slide8.xml" Id="Rad8207382c19476e" /><Relationship Type="http://schemas.openxmlformats.org/officeDocument/2006/relationships/slide" Target="/ppt/slides/slide9.xml" Id="Re74b7ffe2b3c4306" /><Relationship Type="http://schemas.openxmlformats.org/officeDocument/2006/relationships/slide" Target="/ppt/slides/slide10.xml" Id="R754cffcc354a484c" /><Relationship Type="http://schemas.openxmlformats.org/officeDocument/2006/relationships/slide" Target="/ppt/slides/slide11.xml" Id="Rb1a15467a76b47e1" /><Relationship Type="http://schemas.openxmlformats.org/officeDocument/2006/relationships/slide" Target="/ppt/slides/slide12.xml" Id="Rdde7e6e086ff404f" /><Relationship Type="http://schemas.openxmlformats.org/officeDocument/2006/relationships/slide" Target="/ppt/slides/slide13.xml" Id="R2edb5205760847e9" /><Relationship Type="http://schemas.openxmlformats.org/officeDocument/2006/relationships/slide" Target="/ppt/slides/slide14.xml" Id="Rdf4f927a73d04183" /><Relationship Type="http://schemas.openxmlformats.org/officeDocument/2006/relationships/slide" Target="/ppt/slides/slide15.xml" Id="Ree4e059ea0154f98" /><Relationship Type="http://schemas.openxmlformats.org/officeDocument/2006/relationships/slide" Target="/ppt/slides/slide16.xml" Id="Rb5b89ae6eed64d5e" /><Relationship Type="http://schemas.openxmlformats.org/officeDocument/2006/relationships/slide" Target="/ppt/slides/slide17.xml" Id="R8dc34552d39345d5" /><Relationship Type="http://schemas.openxmlformats.org/officeDocument/2006/relationships/slide" Target="/ppt/slides/slide18.xml" Id="Rcc23605916da40c1" /><Relationship Type="http://schemas.openxmlformats.org/officeDocument/2006/relationships/slide" Target="/ppt/slides/slide19.xml" Id="Rbcaa76f81b8c4376" /><Relationship Type="http://schemas.openxmlformats.org/officeDocument/2006/relationships/slide" Target="/ppt/slides/slide20.xml" Id="R1f5ebbb351ba4f5c" /><Relationship Type="http://schemas.openxmlformats.org/officeDocument/2006/relationships/slide" Target="/ppt/slides/slide21.xml" Id="R074c84714f614142" /><Relationship Type="http://schemas.openxmlformats.org/officeDocument/2006/relationships/slide" Target="/ppt/slides/slide22.xml" Id="R7dc7677326e34829" /><Relationship Type="http://schemas.openxmlformats.org/officeDocument/2006/relationships/slide" Target="/ppt/slides/slide23.xml" Id="R25534aa75b4a4023" /><Relationship Type="http://schemas.openxmlformats.org/officeDocument/2006/relationships/slide" Target="/ppt/slides/slide24.xml" Id="R2076bf0adf7f4344" /><Relationship Type="http://schemas.openxmlformats.org/officeDocument/2006/relationships/slide" Target="/ppt/slides/slide25.xml" Id="R1a066b73e3254d22" /><Relationship Type="http://schemas.openxmlformats.org/officeDocument/2006/relationships/slide" Target="/ppt/slides/slide26.xml" Id="Ra626be23f9934e4f" /><Relationship Type="http://schemas.openxmlformats.org/officeDocument/2006/relationships/slide" Target="/ppt/slides/slide27.xml" Id="R7e1ceef824eb44c4" /><Relationship Type="http://schemas.openxmlformats.org/officeDocument/2006/relationships/slide" Target="/ppt/slides/slide28.xml" Id="R0aa887d208ac4b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0a2e74923b49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bdc8cc298a4046" /><Relationship Type="http://schemas.openxmlformats.org/officeDocument/2006/relationships/notesMaster" Target="/ppt/notesMasters/notesMaster1.xml" Id="Ra2f8f6ba95a849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85ec41b1294203" /><Relationship Type="http://schemas.openxmlformats.org/officeDocument/2006/relationships/notesMaster" Target="/ppt/notesMasters/notesMaster1.xml" Id="Ra6e17220443f4c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eae766b6aa4793" /><Relationship Type="http://schemas.openxmlformats.org/officeDocument/2006/relationships/notesMaster" Target="/ppt/notesMasters/notesMaster1.xml" Id="R97273a98a52d4e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07913b94ff4820" /><Relationship Type="http://schemas.openxmlformats.org/officeDocument/2006/relationships/notesMaster" Target="/ppt/notesMasters/notesMaster1.xml" Id="R82ebc471d14949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31bc99fac24419" /><Relationship Type="http://schemas.openxmlformats.org/officeDocument/2006/relationships/notesMaster" Target="/ppt/notesMasters/notesMaster1.xml" Id="R05db3f420aef4f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7e0e72f176490f" /><Relationship Type="http://schemas.openxmlformats.org/officeDocument/2006/relationships/notesMaster" Target="/ppt/notesMasters/notesMaster1.xml" Id="R483bdc1e8ef44f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b0b9782ba249e2" /><Relationship Type="http://schemas.openxmlformats.org/officeDocument/2006/relationships/notesMaster" Target="/ppt/notesMasters/notesMaster1.xml" Id="R54175406ab0249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215c064a6c42ac" /><Relationship Type="http://schemas.openxmlformats.org/officeDocument/2006/relationships/notesMaster" Target="/ppt/notesMasters/notesMaster1.xml" Id="R3e9523b8280142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d2fe69c2104b15" /><Relationship Type="http://schemas.openxmlformats.org/officeDocument/2006/relationships/notesMaster" Target="/ppt/notesMasters/notesMaster1.xml" Id="R4d5c39f810bb45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002886ca9648b7" /><Relationship Type="http://schemas.openxmlformats.org/officeDocument/2006/relationships/notesMaster" Target="/ppt/notesMasters/notesMaster1.xml" Id="R65a46d969e9c42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4cde70ad6645f0" /><Relationship Type="http://schemas.openxmlformats.org/officeDocument/2006/relationships/notesMaster" Target="/ppt/notesMasters/notesMaster1.xml" Id="R7c4959c88ce945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34fa710bc54d27" /><Relationship Type="http://schemas.openxmlformats.org/officeDocument/2006/relationships/notesMaster" Target="/ppt/notesMasters/notesMaster1.xml" Id="R4b30a53e6a034d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fac1d6a78d49e8" /><Relationship Type="http://schemas.openxmlformats.org/officeDocument/2006/relationships/notesMaster" Target="/ppt/notesMasters/notesMaster1.xml" Id="Re32175215d4f4b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bc3328e63842e7" /><Relationship Type="http://schemas.openxmlformats.org/officeDocument/2006/relationships/notesMaster" Target="/ppt/notesMasters/notesMaster1.xml" Id="R66c09b5126d94f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c2aff0357f4f86" /><Relationship Type="http://schemas.openxmlformats.org/officeDocument/2006/relationships/notesMaster" Target="/ppt/notesMasters/notesMaster1.xml" Id="Rc03f0467c18d42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b7addcab4044e0" /><Relationship Type="http://schemas.openxmlformats.org/officeDocument/2006/relationships/notesMaster" Target="/ppt/notesMasters/notesMaster1.xml" Id="R4ef580ae52a148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124b87e048464b" /><Relationship Type="http://schemas.openxmlformats.org/officeDocument/2006/relationships/notesMaster" Target="/ppt/notesMasters/notesMaster1.xml" Id="R9e82c0d3d40742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2b52ad50b64adf" /><Relationship Type="http://schemas.openxmlformats.org/officeDocument/2006/relationships/notesMaster" Target="/ppt/notesMasters/notesMaster1.xml" Id="R915627be0ae140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b28a47cc764d53" /><Relationship Type="http://schemas.openxmlformats.org/officeDocument/2006/relationships/notesMaster" Target="/ppt/notesMasters/notesMaster1.xml" Id="R63e2f947d35548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d292ef99b74ead" /><Relationship Type="http://schemas.openxmlformats.org/officeDocument/2006/relationships/notesMaster" Target="/ppt/notesMasters/notesMaster1.xml" Id="R8362bde7d06446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e2f77546a094dbd" /><Relationship Type="http://schemas.openxmlformats.org/officeDocument/2006/relationships/notesMaster" Target="/ppt/notesMasters/notesMaster1.xml" Id="R353e81df4bc24e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8f540bc0fcc475a" /><Relationship Type="http://schemas.openxmlformats.org/officeDocument/2006/relationships/notesMaster" Target="/ppt/notesMasters/notesMaster1.xml" Id="R85bcd079ca394f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eb0762abbd4ba6" /><Relationship Type="http://schemas.openxmlformats.org/officeDocument/2006/relationships/notesMaster" Target="/ppt/notesMasters/notesMaster1.xml" Id="Ra4065822b5d843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5aa9ae8ab5847f1" /><Relationship Type="http://schemas.openxmlformats.org/officeDocument/2006/relationships/notesMaster" Target="/ppt/notesMasters/notesMaster1.xml" Id="R16b385bc2e514d0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9b5a43ec8546b0" /><Relationship Type="http://schemas.openxmlformats.org/officeDocument/2006/relationships/notesMaster" Target="/ppt/notesMasters/notesMaster1.xml" Id="Rdae8b4e5a1b1491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d8a2e84c3e4504" /><Relationship Type="http://schemas.openxmlformats.org/officeDocument/2006/relationships/notesMaster" Target="/ppt/notesMasters/notesMaster1.xml" Id="R1dfafbb92f104c5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a70fe8beb74d20" /><Relationship Type="http://schemas.openxmlformats.org/officeDocument/2006/relationships/notesMaster" Target="/ppt/notesMasters/notesMaster1.xml" Id="Rf7bf9edeb8374d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2edf0e7b5c4a30" /><Relationship Type="http://schemas.openxmlformats.org/officeDocument/2006/relationships/notesMaster" Target="/ppt/notesMasters/notesMaster1.xml" Id="Ra9983e93c5744e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 Теория вероятностей и математическая статистика. Введение; гл. 1, §§ 1–4, PDF-с. 15–24.</a:t>
            </a:r>
          </a:p>
          <a:p xmlns:a="http://schemas.openxmlformats.org/drawingml/2006/main">
            <a:r>
              <a:t>- РПД Б1.О.09.01 «Теория вероятностей», 2026, табл. 3–4, PDF-с. 10–13.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 Введение, PDF-с. 15–17.</a:t>
            </a:r>
          </a:p>
          <a:p xmlns:a="http://schemas.openxmlformats.org/drawingml/2006/main">
            <a:r>
              <a:t>- Дайзенрот М. П. и др. Математика в машинном обучении, гл. 6, PDF-с. 225–226.</a:t>
            </a:r>
          </a:p>
          <a:p xmlns:a="http://schemas.openxmlformats.org/drawingml/2006/main">
            <a:r>
              <a:t>- Николенко С. и др. Глубокое обучение, гл. 1–2, PDF-с. 8–10, 74–76.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План курса «Теория вероятностей» по РПД, раздел 4, лекция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1, PDF-с.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§§ 1–3, PDF-с. 18–22.</a:t>
            </a:r>
          </a:p>
          <a:p xmlns:a="http://schemas.openxmlformats.org/drawingml/2006/main">
            <a:r>
              <a:t>- Дайзенрот М. П. и др., § 6.1, PDF-с. 225–230.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Дайзенрот М. П. и др., § 6.1, PDF-с. 225–230.</a:t>
            </a:r>
          </a:p>
          <a:p xmlns:a="http://schemas.openxmlformats.org/drawingml/2006/main">
            <a:r>
              <a:t>- Гмурман В. Е., гл. 1, § 3, PDF-с. 20–22.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Дайзенрот М. П. и др., § 6.1, PDF-с. 225–230.</a:t>
            </a:r>
          </a:p>
          <a:p xmlns:a="http://schemas.openxmlformats.org/drawingml/2006/main">
            <a:r>
              <a:t>- Гмурман В. Е., гл. 1, §§ 1–3, PDF-с. 18–22.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2, PDF-с. 18–20.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2, PDF-с. 18–20.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2, PDF-с. 18–20.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2, PDF-с. 18–20.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 Теория вероятностей и математическая статистика: гл. 1, § 2; гл. 3, § 4.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13–14.</a:t>
            </a:r>
          </a:p>
          <a:p xmlns:a="http://schemas.openxmlformats.org/drawingml/2006/main">
            <a:r>
              <a:t>- РПД, вопросы 3–5 к зачёту, PDF-с.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3, § 1, PDF-с. 37–38.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11–13.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алгебра событий; стандартные тождества теории множеств.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11–13.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Конспект лекции, раздел 7.</a:t>
            </a:r>
          </a:p>
          <a:p xmlns:a="http://schemas.openxmlformats.org/drawingml/2006/main">
            <a:r>
              <a:t>- РПД, ИДЗ № 3, задача об устойчивой работе двух устройств, PDF-с. 18 (подготовительный контекст).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4, PDF-с. 23–24.</a:t>
            </a:r>
          </a:p>
          <a:p xmlns:a="http://schemas.openxmlformats.org/drawingml/2006/main">
            <a:r>
              <a:t>- Николенко С. и др. Глубокое обучение, гл. 1–2: прикладной контекст конфигураций.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4, PDF-с. 23–24.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6–8.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4, PDF-с. 23.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6–8.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4, PDF-с. 23.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6–8.</a:t>
            </a:r>
          </a:p>
          <a:p xmlns:a="http://schemas.openxmlformats.org/drawingml/2006/main">
            <a:r>
              <a:t>- РПД, контрольная работа № 1, задача 2, PDF-с.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4, PDF-с. 23.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6–8.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4, PDF-с. 23.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6–8.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4, PDF-с. 23–24.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7–8.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 4.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6–8.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РПД, ИДЗ № 1, задача 2, PDF-с.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РПД, ИДЗ № 1, задача 2, PDF-с. 17; вычисления автора конспекта.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Конспект лекции, раздел 16; полный перебор itertools.combinations.</a:t>
            </a:r>
          </a:p>
          <a:p xmlns:a="http://schemas.openxmlformats.org/drawingml/2006/main">
            <a:r>
              <a:t>- РПД, ИДЗ № 1, задача 2, PDF-с.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гл. 1, §§ 1–4.</a:t>
            </a:r>
          </a:p>
          <a:p xmlns:a="http://schemas.openxmlformats.org/drawingml/2006/main">
            <a:r>
              <a:t>- Теория вероятностей и математическая статистика: методические указания (4816), PDF-с. 6–13.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Гмурман В. Е., введение и гл. 1, §§ 1–4.</a:t>
            </a:r>
          </a:p>
          <a:p xmlns:a="http://schemas.openxmlformats.org/drawingml/2006/main">
            <a:r>
              <a:t>- РПД, вопросы 1–9 и 14 к зачёту, PDF-с.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7d3eeea2f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faa90ab3e34023" /><Relationship Type="http://schemas.openxmlformats.org/officeDocument/2006/relationships/slideLayout" Target="/ppt/slideLayouts/slideLayout1.xml" Id="R06fa5d8762cc4f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a5d8762cc4f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5710394ce4195" /><Relationship Type="http://schemas.openxmlformats.org/officeDocument/2006/relationships/image" Target="/ppt/media/image.png" Id="Rca03b1056ca74517" /><Relationship Type="http://schemas.openxmlformats.org/officeDocument/2006/relationships/notesSlide" Target="/ppt/notesSlides/notesSlide1.xml" Id="Rd872801526f5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a5576c26145a4" /><Relationship Type="http://schemas.openxmlformats.org/officeDocument/2006/relationships/notesSlide" Target="/ppt/notesSlides/notesSlide2.xml" Id="R8bf29bc00c2142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dfcb19f954545" /><Relationship Type="http://schemas.openxmlformats.org/officeDocument/2006/relationships/notesSlide" Target="/ppt/notesSlides/notesSlide3.xml" Id="R43a3a56f12b24c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bf3313d4e4335" /><Relationship Type="http://schemas.openxmlformats.org/officeDocument/2006/relationships/notesSlide" Target="/ppt/notesSlides/notesSlide4.xml" Id="R97a02be8b912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ae26b53664d78" /><Relationship Type="http://schemas.openxmlformats.org/officeDocument/2006/relationships/image" Target="/ppt/media/image2.png" Id="Ra20a5d1abaa24c4b" /><Relationship Type="http://schemas.openxmlformats.org/officeDocument/2006/relationships/image" Target="/ppt/media/image3.png" Id="R084115a7fe434f3d" /><Relationship Type="http://schemas.openxmlformats.org/officeDocument/2006/relationships/notesSlide" Target="/ppt/notesSlides/notesSlide5.xml" Id="R2765ca19564742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a32a200a34435" /><Relationship Type="http://schemas.openxmlformats.org/officeDocument/2006/relationships/image" Target="/ppt/media/image4.png" Id="R3243394618e9464d" /><Relationship Type="http://schemas.openxmlformats.org/officeDocument/2006/relationships/image" Target="/ppt/media/image5.png" Id="Re0ada5c602ae4e70" /><Relationship Type="http://schemas.openxmlformats.org/officeDocument/2006/relationships/image" Target="/ppt/media/image6.png" Id="R874162a7b902421c" /><Relationship Type="http://schemas.openxmlformats.org/officeDocument/2006/relationships/image" Target="/ppt/media/image7.png" Id="Re2f078117c8c477a" /><Relationship Type="http://schemas.openxmlformats.org/officeDocument/2006/relationships/image" Target="/ppt/media/image8.png" Id="R6a3fb0183eb64d6a" /><Relationship Type="http://schemas.openxmlformats.org/officeDocument/2006/relationships/notesSlide" Target="/ppt/notesSlides/notesSlide6.xml" Id="R779e691e1f3c40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7c1e1d0304c35" /><Relationship Type="http://schemas.openxmlformats.org/officeDocument/2006/relationships/image" Target="/ppt/media/image9.png" Id="Ra75abb8e8f30495a" /><Relationship Type="http://schemas.openxmlformats.org/officeDocument/2006/relationships/image" Target="/ppt/media/image10.png" Id="R4fab21dc02a94003" /><Relationship Type="http://schemas.openxmlformats.org/officeDocument/2006/relationships/image" Target="/ppt/media/image11.png" Id="Ra103a972bb994585" /><Relationship Type="http://schemas.openxmlformats.org/officeDocument/2006/relationships/image" Target="/ppt/media/image12.png" Id="R4ff91166200d42fb" /><Relationship Type="http://schemas.openxmlformats.org/officeDocument/2006/relationships/image" Target="/ppt/media/image13.png" Id="Re4504e148bf84da5" /><Relationship Type="http://schemas.openxmlformats.org/officeDocument/2006/relationships/image" Target="/ppt/media/image14.png" Id="R2704bcadd4e24491" /><Relationship Type="http://schemas.openxmlformats.org/officeDocument/2006/relationships/image" Target="/ppt/media/image15.png" Id="R1da3b78cb4c34ed5" /><Relationship Type="http://schemas.openxmlformats.org/officeDocument/2006/relationships/image" Target="/ppt/media/image16.png" Id="R6845afd3acfa4e28" /><Relationship Type="http://schemas.openxmlformats.org/officeDocument/2006/relationships/notesSlide" Target="/ppt/notesSlides/notesSlide7.xml" Id="R0b7e514626dd41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15aec058943c6" /><Relationship Type="http://schemas.openxmlformats.org/officeDocument/2006/relationships/image" Target="/ppt/media/image17.png" Id="Rcc6f342450df44b4" /><Relationship Type="http://schemas.openxmlformats.org/officeDocument/2006/relationships/image" Target="/ppt/media/image18.png" Id="Re40f9674216a4855" /><Relationship Type="http://schemas.openxmlformats.org/officeDocument/2006/relationships/image" Target="/ppt/media/image19.png" Id="R0b20842bbda84705" /><Relationship Type="http://schemas.openxmlformats.org/officeDocument/2006/relationships/notesSlide" Target="/ppt/notesSlides/notesSlide8.xml" Id="R19d5b4335f2640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19c65c73e4c12" /><Relationship Type="http://schemas.openxmlformats.org/officeDocument/2006/relationships/image" Target="/ppt/media/image20.png" Id="Rabc8ddc3a5c24c72" /><Relationship Type="http://schemas.openxmlformats.org/officeDocument/2006/relationships/image" Target="/ppt/media/image21.png" Id="R107947a8a42f420f" /><Relationship Type="http://schemas.openxmlformats.org/officeDocument/2006/relationships/notesSlide" Target="/ppt/notesSlides/notesSlide9.xml" Id="R4104bad05ebe48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3134227f2431b" /><Relationship Type="http://schemas.openxmlformats.org/officeDocument/2006/relationships/image" Target="/ppt/media/image22.png" Id="Rd226b92d630c4b9a" /><Relationship Type="http://schemas.openxmlformats.org/officeDocument/2006/relationships/image" Target="/ppt/media/image23.png" Id="Rd714f9f8970d4956" /><Relationship Type="http://schemas.openxmlformats.org/officeDocument/2006/relationships/image" Target="/ppt/media/image24.png" Id="R45b8d5c0c35c4e06" /><Relationship Type="http://schemas.openxmlformats.org/officeDocument/2006/relationships/image" Target="/ppt/media/image25.png" Id="R4db72787b6944776" /><Relationship Type="http://schemas.openxmlformats.org/officeDocument/2006/relationships/notesSlide" Target="/ppt/notesSlides/notesSlide10.xml" Id="R8a1e5a94820545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7eb47fd204fdf" /><Relationship Type="http://schemas.openxmlformats.org/officeDocument/2006/relationships/image" Target="/ppt/media/image26.png" Id="R00e00a4e1c394f45" /><Relationship Type="http://schemas.openxmlformats.org/officeDocument/2006/relationships/image" Target="/ppt/media/image27.png" Id="R1d32564c189a499e" /><Relationship Type="http://schemas.openxmlformats.org/officeDocument/2006/relationships/image" Target="/ppt/media/image28.png" Id="R82d4ca3f46314e71" /><Relationship Type="http://schemas.openxmlformats.org/officeDocument/2006/relationships/image" Target="/ppt/media/image29.png" Id="R4e1530a75f134936" /><Relationship Type="http://schemas.openxmlformats.org/officeDocument/2006/relationships/notesSlide" Target="/ppt/notesSlides/notesSlide11.xml" Id="R4c34a53674334a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c92dbf0d5422a" /><Relationship Type="http://schemas.openxmlformats.org/officeDocument/2006/relationships/image" Target="/ppt/media/image30.png" Id="R1740081fe4dc49cb" /><Relationship Type="http://schemas.openxmlformats.org/officeDocument/2006/relationships/image" Target="/ppt/media/image31.png" Id="R16870bce771b4ff4" /><Relationship Type="http://schemas.openxmlformats.org/officeDocument/2006/relationships/notesSlide" Target="/ppt/notesSlides/notesSlide12.xml" Id="R7ca9507e512744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d01f8814b4a52" /><Relationship Type="http://schemas.openxmlformats.org/officeDocument/2006/relationships/image" Target="/ppt/media/image32.png" Id="Rf4be096ab7f14bde" /><Relationship Type="http://schemas.openxmlformats.org/officeDocument/2006/relationships/image" Target="/ppt/media/image33.png" Id="R5638ca3357fb47d5" /><Relationship Type="http://schemas.openxmlformats.org/officeDocument/2006/relationships/image" Target="/ppt/media/image34.png" Id="R7a698b2db2ab4428" /><Relationship Type="http://schemas.openxmlformats.org/officeDocument/2006/relationships/notesSlide" Target="/ppt/notesSlides/notesSlide13.xml" Id="R34541cd5a20540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1d32be9fb4abb" /><Relationship Type="http://schemas.openxmlformats.org/officeDocument/2006/relationships/image" Target="/ppt/media/image35.png" Id="Rbf99168398164a1c" /><Relationship Type="http://schemas.openxmlformats.org/officeDocument/2006/relationships/image" Target="/ppt/media/image36.png" Id="R0308ea9bdcd64f00" /><Relationship Type="http://schemas.openxmlformats.org/officeDocument/2006/relationships/image" Target="/ppt/media/image37.png" Id="R46f35abad870417e" /><Relationship Type="http://schemas.openxmlformats.org/officeDocument/2006/relationships/image" Target="/ppt/media/image38.png" Id="R1445ba2bf4f244ea" /><Relationship Type="http://schemas.openxmlformats.org/officeDocument/2006/relationships/notesSlide" Target="/ppt/notesSlides/notesSlide14.xml" Id="Rf26a2d77661244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9d9eeaf524802" /><Relationship Type="http://schemas.openxmlformats.org/officeDocument/2006/relationships/image" Target="/ppt/media/image39.png" Id="Ra095f67143684cc4" /><Relationship Type="http://schemas.openxmlformats.org/officeDocument/2006/relationships/image" Target="/ppt/media/image40.png" Id="R984def5ab07c4ffa" /><Relationship Type="http://schemas.openxmlformats.org/officeDocument/2006/relationships/image" Target="/ppt/media/image41.png" Id="Rd8823d799ef14d82" /><Relationship Type="http://schemas.openxmlformats.org/officeDocument/2006/relationships/image" Target="/ppt/media/image42.png" Id="R946704652b854cf8" /><Relationship Type="http://schemas.openxmlformats.org/officeDocument/2006/relationships/image" Target="/ppt/media/image43.png" Id="R6de43e8c013a4f72" /><Relationship Type="http://schemas.openxmlformats.org/officeDocument/2006/relationships/image" Target="/ppt/media/image44.png" Id="Rad3ab71f8fa74c4c" /><Relationship Type="http://schemas.openxmlformats.org/officeDocument/2006/relationships/notesSlide" Target="/ppt/notesSlides/notesSlide15.xml" Id="Re5b04269a2364d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8291eb3bb4964" /><Relationship Type="http://schemas.openxmlformats.org/officeDocument/2006/relationships/image" Target="/ppt/media/image45.png" Id="Rc850ae2197994af2" /><Relationship Type="http://schemas.openxmlformats.org/officeDocument/2006/relationships/image" Target="/ppt/media/image46.png" Id="R2a71c003db2e430b" /><Relationship Type="http://schemas.openxmlformats.org/officeDocument/2006/relationships/notesSlide" Target="/ppt/notesSlides/notesSlide16.xml" Id="Rfc54832ca49d45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feb8ec8bf4935" /><Relationship Type="http://schemas.openxmlformats.org/officeDocument/2006/relationships/image" Target="/ppt/media/image47.png" Id="R2ab722110bd24514" /><Relationship Type="http://schemas.openxmlformats.org/officeDocument/2006/relationships/image" Target="/ppt/media/image48.png" Id="Ra4815f4967704285" /><Relationship Type="http://schemas.openxmlformats.org/officeDocument/2006/relationships/image" Target="/ppt/media/image49.png" Id="Rb02e8b4bffdb4a4a" /><Relationship Type="http://schemas.openxmlformats.org/officeDocument/2006/relationships/notesSlide" Target="/ppt/notesSlides/notesSlide17.xml" Id="R445de2caedda46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3914d7440488d" /><Relationship Type="http://schemas.openxmlformats.org/officeDocument/2006/relationships/image" Target="/ppt/media/image50.png" Id="R10e28135fe5a479b" /><Relationship Type="http://schemas.openxmlformats.org/officeDocument/2006/relationships/image" Target="/ppt/media/image51.png" Id="R6bfeb24102db4dfe" /><Relationship Type="http://schemas.openxmlformats.org/officeDocument/2006/relationships/image" Target="/ppt/media/image52.png" Id="Rdbbcf12055bb44ee" /><Relationship Type="http://schemas.openxmlformats.org/officeDocument/2006/relationships/image" Target="/ppt/media/image53.png" Id="R1fc578287c474c4f" /><Relationship Type="http://schemas.openxmlformats.org/officeDocument/2006/relationships/notesSlide" Target="/ppt/notesSlides/notesSlide18.xml" Id="R1bf5c67a78a645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6547c302942e5" /><Relationship Type="http://schemas.openxmlformats.org/officeDocument/2006/relationships/image" Target="/ppt/media/image54.png" Id="R12fb7d2c8bbb4386" /><Relationship Type="http://schemas.openxmlformats.org/officeDocument/2006/relationships/image" Target="/ppt/media/image55.png" Id="Rfc7666e88b904464" /><Relationship Type="http://schemas.openxmlformats.org/officeDocument/2006/relationships/image" Target="/ppt/media/image56.png" Id="R984c3875a743482e" /><Relationship Type="http://schemas.openxmlformats.org/officeDocument/2006/relationships/notesSlide" Target="/ppt/notesSlides/notesSlide19.xml" Id="R43858c3fde8642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94da91e1444e5" /><Relationship Type="http://schemas.openxmlformats.org/officeDocument/2006/relationships/image" Target="/ppt/media/image57.png" Id="Rd9673099cd1148b0" /><Relationship Type="http://schemas.openxmlformats.org/officeDocument/2006/relationships/image" Target="/ppt/media/image58.png" Id="Rf96430a52bb941e5" /><Relationship Type="http://schemas.openxmlformats.org/officeDocument/2006/relationships/image" Target="/ppt/media/image59.png" Id="R2329810ffa4f4d75" /><Relationship Type="http://schemas.openxmlformats.org/officeDocument/2006/relationships/notesSlide" Target="/ppt/notesSlides/notesSlide20.xml" Id="R4c76499e98b840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5c05e5ab34e00" /><Relationship Type="http://schemas.openxmlformats.org/officeDocument/2006/relationships/image" Target="/ppt/media/image60.png" Id="R42f52e25749944de" /><Relationship Type="http://schemas.openxmlformats.org/officeDocument/2006/relationships/notesSlide" Target="/ppt/notesSlides/notesSlide21.xml" Id="Rd02998bd77104d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d280aed5047a4" /><Relationship Type="http://schemas.openxmlformats.org/officeDocument/2006/relationships/image" Target="/ppt/media/image61.png" Id="R03ca893f9d734f03" /><Relationship Type="http://schemas.openxmlformats.org/officeDocument/2006/relationships/image" Target="/ppt/media/image62.png" Id="Rbc465ca5b9044328" /><Relationship Type="http://schemas.openxmlformats.org/officeDocument/2006/relationships/image" Target="/ppt/media/image63.png" Id="R96270c384dcb4154" /><Relationship Type="http://schemas.openxmlformats.org/officeDocument/2006/relationships/image" Target="/ppt/media/image64.png" Id="Rea00dde2715d4267" /><Relationship Type="http://schemas.openxmlformats.org/officeDocument/2006/relationships/notesSlide" Target="/ppt/notesSlides/notesSlide22.xml" Id="Rbb6deba09df742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dc6c0245d454f" /><Relationship Type="http://schemas.openxmlformats.org/officeDocument/2006/relationships/image" Target="/ppt/media/image65.png" Id="R13ac6d895f614f96" /><Relationship Type="http://schemas.openxmlformats.org/officeDocument/2006/relationships/image" Target="/ppt/media/image66.png" Id="R1a74bbf1ee184f95" /><Relationship Type="http://schemas.openxmlformats.org/officeDocument/2006/relationships/image" Target="/ppt/media/image67.png" Id="R1bb63dcbccd442d6" /><Relationship Type="http://schemas.openxmlformats.org/officeDocument/2006/relationships/notesSlide" Target="/ppt/notesSlides/notesSlide23.xml" Id="Rd1f04e9287e045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f1b695e424044" /><Relationship Type="http://schemas.openxmlformats.org/officeDocument/2006/relationships/image" Target="/ppt/media/image68.png" Id="R2d8d121b9e0f41a6" /><Relationship Type="http://schemas.openxmlformats.org/officeDocument/2006/relationships/image" Target="/ppt/media/image69.png" Id="R88fa6279b7be417d" /><Relationship Type="http://schemas.openxmlformats.org/officeDocument/2006/relationships/image" Target="/ppt/media/image70.png" Id="R02427521adc246b7" /><Relationship Type="http://schemas.openxmlformats.org/officeDocument/2006/relationships/notesSlide" Target="/ppt/notesSlides/notesSlide24.xml" Id="Rd65d6403bc424f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6ab776b35489a" /><Relationship Type="http://schemas.openxmlformats.org/officeDocument/2006/relationships/image" Target="/ppt/media/image71.png" Id="R0efab80b67734dd9" /><Relationship Type="http://schemas.openxmlformats.org/officeDocument/2006/relationships/image" Target="/ppt/media/image72.png" Id="Rc7cfab25d48240ef" /><Relationship Type="http://schemas.openxmlformats.org/officeDocument/2006/relationships/image" Target="/ppt/media/image73.png" Id="R3db312c88bdc49be" /><Relationship Type="http://schemas.openxmlformats.org/officeDocument/2006/relationships/image" Target="/ppt/media/image74.png" Id="Rf4e266bfac904c8a" /><Relationship Type="http://schemas.openxmlformats.org/officeDocument/2006/relationships/image" Target="/ppt/media/image75.png" Id="Ref1d60ea4cc54836" /><Relationship Type="http://schemas.openxmlformats.org/officeDocument/2006/relationships/image" Target="/ppt/media/image76.png" Id="R90f2915cf98f4e92" /><Relationship Type="http://schemas.openxmlformats.org/officeDocument/2006/relationships/image" Target="/ppt/media/image77.png" Id="R354d500d6f7649ec" /><Relationship Type="http://schemas.openxmlformats.org/officeDocument/2006/relationships/notesSlide" Target="/ppt/notesSlides/notesSlide25.xml" Id="Rd719823ddd3949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5e829a5c14217" /><Relationship Type="http://schemas.openxmlformats.org/officeDocument/2006/relationships/chart" Target="/ppt/slides/charts/chart1.xml" Id="R46b8495f779a4a59" /><Relationship Type="http://schemas.openxmlformats.org/officeDocument/2006/relationships/notesSlide" Target="/ppt/notesSlides/notesSlide26.xml" Id="Rac322f723a1d47f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82e74577f46a2" /><Relationship Type="http://schemas.openxmlformats.org/officeDocument/2006/relationships/notesSlide" Target="/ppt/notesSlides/notesSlide27.xml" Id="Re8d77894ff6a4d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21e620c9743e4" /><Relationship Type="http://schemas.openxmlformats.org/officeDocument/2006/relationships/notesSlide" Target="/ppt/notesSlides/notesSlide28.xml" Id="Re480c5c1c8f049b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Не проходят условие</c:v>
          </c:tx>
          <c:spPr>
            <a:solidFill xmlns:a="http://schemas.openxmlformats.org/drawingml/2006/main">
              <a:srgbClr val="B8BCC4"/>
            </a:solidFill>
          </c:spP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General</c:formatCode>
              <c:ptCount val="5"/>
              <c:pt idx="0">
                <c:v>495</c:v>
              </c:pt>
              <c:pt idx="1">
                <c:v>2200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ser>
          <c:idx val="1"/>
          <c:order val="1"/>
          <c:tx>
            <c:v>Не менее двух юношей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2970</c:v>
              </c:pt>
              <c:pt idx="3">
                <c:v>1440</c:v>
              </c:pt>
              <c:pt idx="4">
                <c:v>210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9616B"/>
                    </a:solidFill>
                  </a:rPr>
                  <a:t>Число юношей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9616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16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16B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7FCC1-2E4F-411C-81AA-A4EE0401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ТЕОРИЯ ВЕРОЯТНОСТЕЙ · ЛЕКЦИЯ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5DA8A-2D1F-4315-BEEC-8CA7509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Случайный эксперимент,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события и комбинаторика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6613C-D491-4B24-BE21-DE1FCB18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От неопределённости — к расчёту вариантов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2089F-DFEC-49FC-B796-51C45CBE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"/>
            <a:ext cx="1790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3b1056ca74517"/>
          <a:stretch xmlns:a="http://schemas.openxmlformats.org/drawingml/2006/main"/>
        </p:blipFill>
        <p:spPr>
          <a:xfrm xmlns:a="http://schemas.openxmlformats.org/drawingml/2006/main">
            <a:off x="10287000" y="666750"/>
            <a:ext cx="12192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18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0729DAAF-ADA2-4233-9023-647D989D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Зачем нужен язык случайности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DA525-6CA2-4558-B91E-8CC3A96D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B4DB5-206D-411D-99DC-10FA8CB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Один исход неизвестен заранее, но всё пространство вариантов можно описать.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F9AE7-88C3-4579-9960-48C4F076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36766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A08A8-68EE-47CE-8B92-05551873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3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ТРИ КОНТЕКСТА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C83E9-6D8B-4100-863D-62CAD289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38375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доступность серверов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шум и новые данные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случайные мини-пакеты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028D8-E1B2-46DE-8B3E-8234E329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Теория вероятностей помогает превратить неопределённость в понятную математическую модель.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058CF-6998-4641-B697-80908CB0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Сегодня: строим язык событий и учимся считать варианты.</a:t>
            </a:r>
          </a:p>
        </p:txBody>
      </p:sp>
    </p:spTree>
    <p:extLst>
      <p:ext uri="{BB962C8B-B14F-4D97-AF65-F5344CB8AC3E}">
        <p14:creationId xmlns:p14="http://schemas.microsoft.com/office/powerpoint/2010/main" val="560384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42408199-4257-4FC9-BCD8-931775AD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Маршрут лекции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B5A82-8131-43D5-B5F0-4520D181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143000" y="3238500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3CB5F-536A-4578-8ED9-2D8AFAB1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0E731-BE16-4B58-BB5F-5E05947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Эксперимент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2BEAC-5F9D-47D0-ADB3-259110E9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619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что повторяем в опыте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72645-83F4-41E8-8A49-73A757A1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716A8-EEDC-4C22-AF9A-59EC9D27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20E49-2D1A-461C-99EE-CE7EC70A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19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что может произойти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9ABE3-2FC6-48DD-9926-46B7CC75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3CBDE-8E5E-4BD9-8B43-C30CC95D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BF75F-C75B-4862-9546-C6A59D83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19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что нас интересует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4ACD8-B08B-4FF9-B61B-07551ADB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D7A37-B788-4359-B2CB-72437D99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Подсчёт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17699-CB2B-40E3-8941-751DF062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19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сколько вариантов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63B5C-98E5-4AAC-BE93-4F3F391E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0F329-81F4-4E50-B197-E1F144B6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4BC4F-C06C-4924-8CDB-478E7529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195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формула проверяется кодом</a:t>
            </a:r>
          </a:p>
        </p:txBody>
      </p:sp>
    </p:spTree>
    <p:extLst>
      <p:ext uri="{BB962C8B-B14F-4D97-AF65-F5344CB8AC3E}">
        <p14:creationId xmlns:p14="http://schemas.microsoft.com/office/powerpoint/2010/main" val="236495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4">
            <a:extLst xmlns:a="http://schemas.openxmlformats.org/drawingml/2006/main">
              <a:ext uri="{FF2B5EF4-FFF2-40B4-BE49-F238E27FC236}">
                <a16:creationId xmlns:a16="http://schemas.microsoft.com/office/drawing/2014/main" id="{571279FE-2AB4-4D47-A907-D2C5B666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Случайный эксперимент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3DC0D-1003-4F53-94BE-94ABBA2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DCEA3-A0B9-41F1-9B61-0E4EA99D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23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Опыт с заданными условиями, результат которого заранее нельзя назвать однозначно.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33EBE-1F56-4122-A9F9-70DFFFC1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81922-CD72-4F4D-BCE9-650C51B2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Условия заданы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6D70E-3E60-44E1-876C-75A3030E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00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Понятно, что именно повторяется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AC4A8-9519-4A07-B813-19C17BF4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357D8-EA68-485C-A13D-B87F06E0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0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Результат наблюдаем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DF9B-EE92-46C8-8F20-96D3E8CA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00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После опыта исход можно назвать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EE9BB-DA2D-4A49-81F5-16AB7463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A77FC-C185-4D22-B5FE-06F26D7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Есть несколько исходов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64E41-447B-40C1-9C27-4F53E029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300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До опыта возможны несколько исходов</a:t>
            </a:r>
          </a:p>
        </p:txBody>
      </p:sp>
    </p:spTree>
    <p:extLst>
      <p:ext uri="{BB962C8B-B14F-4D97-AF65-F5344CB8AC3E}">
        <p14:creationId xmlns:p14="http://schemas.microsoft.com/office/powerpoint/2010/main" val="1639024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989703F9-0797-4ED9-B5D2-826E2C4F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Элементарный исход — один результат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CB79C-FCF4-4066-ADEE-1E2FC36E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a5d1abaa24c4b"/>
          <a:stretch xmlns:a="http://schemas.openxmlformats.org/drawingml/2006/main"/>
        </p:blipFill>
        <p:spPr>
          <a:xfrm xmlns:a="http://schemas.openxmlformats.org/drawingml/2006/main">
            <a:off x="704850" y="1809750"/>
            <a:ext cx="238125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F255C-2E54-4EC4-9F02-BAAA1D22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неделим только для выбранной модели.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58F91-1755-4FBE-A66C-946FCFDD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723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454FE-8AFF-4C68-BC2A-9ADE929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90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Бросок кости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115a7fe434f3d"/>
          <a:stretch xmlns:a="http://schemas.openxmlformats.org/drawingml/2006/main"/>
        </p:blipFill>
        <p:spPr>
          <a:xfrm xmlns:a="http://schemas.openxmlformats.org/drawingml/2006/main">
            <a:off x="4000500" y="4162425"/>
            <a:ext cx="619125" cy="38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125DB-7E74-41BF-9C4B-BCA2C75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62425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число очков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78A52-0A11-43DC-8578-8FAF84CC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909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Положение кости не учитываем: для вопроса оно не важно.</a:t>
            </a:r>
          </a:p>
        </p:txBody>
      </p:sp>
    </p:spTree>
    <p:extLst>
      <p:ext uri="{BB962C8B-B14F-4D97-AF65-F5344CB8AC3E}">
        <p14:creationId xmlns:p14="http://schemas.microsoft.com/office/powerpoint/2010/main" val="1182111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6">
            <a:extLst xmlns:a="http://schemas.openxmlformats.org/drawingml/2006/main">
              <a:ext uri="{FF2B5EF4-FFF2-40B4-BE49-F238E27FC236}">
                <a16:creationId xmlns:a16="http://schemas.microsoft.com/office/drawing/2014/main" id="{06D9CEC7-BE8E-48FA-86B2-D8CF065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Пространство исходов содержит все результаты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6E6B7-4D26-43F0-8562-1DF78746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F2586-CAB7-404B-8D23-63EF7E64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Монета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3394618e9464d"/>
          <a:stretch xmlns:a="http://schemas.openxmlformats.org/drawingml/2006/main"/>
        </p:blipFill>
        <p:spPr>
          <a:xfrm xmlns:a="http://schemas.openxmlformats.org/drawingml/2006/main">
            <a:off x="3429000" y="1504950"/>
            <a:ext cx="7715250" cy="590550"/>
          </a:xfrm>
          <a:prstGeom xmlns:a="http://schemas.openxmlformats.org/drawingml/2006/main" prst="rect">
            <a:avLst/>
          </a:prstGeom>
        </p:spPr>
      </p:pic>
      <p:cxnSp>
        <p:nvCxnSpPr>
          <p:cNvPr id="43" name=""/>
          <p:cNvCxnSpPr/>
          <p:nvPr/>
        </p:nvCxnSpPr>
        <p:spPr>
          <a:xfrm xmlns:a="http://schemas.openxmlformats.org/drawingml/2006/main">
            <a:off x="552450" y="22098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73956-279F-4229-93DF-D49A966D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Кость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da5c602ae4e70"/>
          <a:stretch xmlns:a="http://schemas.openxmlformats.org/drawingml/2006/main"/>
        </p:blipFill>
        <p:spPr>
          <a:xfrm xmlns:a="http://schemas.openxmlformats.org/drawingml/2006/main">
            <a:off x="3429000" y="2552700"/>
            <a:ext cx="7715250" cy="590550"/>
          </a:xfrm>
          <a:prstGeom xmlns:a="http://schemas.openxmlformats.org/drawingml/2006/main" prst="rect">
            <a:avLst/>
          </a:prstGeom>
        </p:spPr>
      </p:pic>
      <p:cxnSp>
        <p:nvCxnSpPr>
          <p:cNvPr id="46" name=""/>
          <p:cNvCxnSpPr/>
          <p:nvPr/>
        </p:nvCxnSpPr>
        <p:spPr>
          <a:xfrm xmlns:a="http://schemas.openxmlformats.org/drawingml/2006/main">
            <a:off x="552450" y="32575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9F706-5383-4661-9E69-FF5253A8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Две монеты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162a7b902421c"/>
          <a:stretch xmlns:a="http://schemas.openxmlformats.org/drawingml/2006/main"/>
        </p:blipFill>
        <p:spPr>
          <a:xfrm xmlns:a="http://schemas.openxmlformats.org/drawingml/2006/main">
            <a:off x="3429000" y="3600450"/>
            <a:ext cx="7715250" cy="590550"/>
          </a:xfrm>
          <a:prstGeom xmlns:a="http://schemas.openxmlformats.org/drawingml/2006/main" prst="rect">
            <a:avLst/>
          </a:prstGeom>
        </p:spPr>
      </p:pic>
      <p:cxnSp>
        <p:nvCxnSpPr>
          <p:cNvPr id="49" name=""/>
          <p:cNvCxnSpPr/>
          <p:nvPr/>
        </p:nvCxnSpPr>
        <p:spPr>
          <a:xfrm xmlns:a="http://schemas.openxmlformats.org/drawingml/2006/main">
            <a:off x="552450" y="43053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3721C-3860-4EED-9B51-B5559D91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Два сервера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078117c8c477a"/>
          <a:stretch xmlns:a="http://schemas.openxmlformats.org/drawingml/2006/main"/>
        </p:blipFill>
        <p:spPr>
          <a:xfrm xmlns:a="http://schemas.openxmlformats.org/drawingml/2006/main">
            <a:off x="3429000" y="4648200"/>
            <a:ext cx="7715250" cy="590550"/>
          </a:xfrm>
          <a:prstGeom xmlns:a="http://schemas.openxmlformats.org/drawingml/2006/main" prst="rect">
            <a:avLst/>
          </a:prstGeom>
        </p:spPr>
      </p:pic>
      <p:cxnSp>
        <p:nvCxnSpPr>
          <p:cNvPr id="52" name=""/>
          <p:cNvCxnSpPr/>
          <p:nvPr/>
        </p:nvCxnSpPr>
        <p:spPr>
          <a:xfrm xmlns:a="http://schemas.openxmlformats.org/drawingml/2006/main">
            <a:off x="552450" y="53530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C1EF0-34E8-4ED4-BE29-CFF54DC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Полное Ω: опыт даёт ровно один исход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fb0183eb64d6a"/>
          <a:stretch xmlns:a="http://schemas.openxmlformats.org/drawingml/2006/main"/>
        </p:blipFill>
        <p:spPr>
          <a:xfrm xmlns:a="http://schemas.openxmlformats.org/drawingml/2006/main">
            <a:off x="8763000" y="5667375"/>
            <a:ext cx="2000250" cy="47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39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7">
            <a:extLst xmlns:a="http://schemas.openxmlformats.org/drawingml/2006/main">
              <a:ext uri="{FF2B5EF4-FFF2-40B4-BE49-F238E27FC236}">
                <a16:creationId xmlns:a16="http://schemas.microsoft.com/office/drawing/2014/main" id="{4D23E2F2-3DCD-4A32-B733-F37B474A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Событие — подмножество исходов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8FA03-6736-492E-85D2-527E248F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46AB0-8774-41CB-ABDF-B77B0952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5953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abb8e8f30495a"/>
          <a:stretch xmlns:a="http://schemas.openxmlformats.org/drawingml/2006/main"/>
        </p:blipFill>
        <p:spPr>
          <a:xfrm xmlns:a="http://schemas.openxmlformats.org/drawingml/2006/main">
            <a:off x="1000125" y="1733550"/>
            <a:ext cx="762000" cy="42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D3250-EF2B-49C0-AD0C-03A32F48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33625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b21dc02a94003"/>
          <a:stretch xmlns:a="http://schemas.openxmlformats.org/drawingml/2006/main"/>
        </p:blipFill>
        <p:spPr>
          <a:xfrm xmlns:a="http://schemas.openxmlformats.org/drawingml/2006/main">
            <a:off x="3476625" y="2971800"/>
            <a:ext cx="571500" cy="47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0A088-E86C-4636-847E-2856F7CF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3a972bb994585"/>
          <a:stretch xmlns:a="http://schemas.openxmlformats.org/drawingml/2006/main"/>
        </p:blipFill>
        <p:spPr>
          <a:xfrm xmlns:a="http://schemas.openxmlformats.org/drawingml/2006/main">
            <a:off x="1676400" y="2495550"/>
            <a:ext cx="476250" cy="28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15BFD-00EB-4F58-A742-FE3C5D08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91166200d42fb"/>
          <a:stretch xmlns:a="http://schemas.openxmlformats.org/drawingml/2006/main"/>
        </p:blipFill>
        <p:spPr>
          <a:xfrm xmlns:a="http://schemas.openxmlformats.org/drawingml/2006/main">
            <a:off x="2962275" y="2705100"/>
            <a:ext cx="476250" cy="285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D3BA6-83EB-4621-A01C-EBBB735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04e148bf84da5"/>
          <a:stretch xmlns:a="http://schemas.openxmlformats.org/drawingml/2006/main"/>
        </p:blipFill>
        <p:spPr>
          <a:xfrm xmlns:a="http://schemas.openxmlformats.org/drawingml/2006/main">
            <a:off x="4248150" y="3638550"/>
            <a:ext cx="476250" cy="285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566B9-111C-4404-B67A-47CB3962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4bcadd4e24491"/>
          <a:stretch xmlns:a="http://schemas.openxmlformats.org/drawingml/2006/main"/>
        </p:blipFill>
        <p:spPr>
          <a:xfrm xmlns:a="http://schemas.openxmlformats.org/drawingml/2006/main">
            <a:off x="5962650" y="4495800"/>
            <a:ext cx="476250" cy="2857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3b78cb4c34ed5"/>
          <a:stretch xmlns:a="http://schemas.openxmlformats.org/drawingml/2006/main"/>
        </p:blipFill>
        <p:spPr>
          <a:xfrm xmlns:a="http://schemas.openxmlformats.org/drawingml/2006/main">
            <a:off x="7524750" y="1809750"/>
            <a:ext cx="3333750" cy="762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EAA8C-503B-444A-9A78-FD5061C6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Событие произошло, если реализовавшийся исход попал в A: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5afd3acfa4e28"/>
          <a:stretch xmlns:a="http://schemas.openxmlformats.org/drawingml/2006/main"/>
        </p:blipFill>
        <p:spPr>
          <a:xfrm xmlns:a="http://schemas.openxmlformats.org/drawingml/2006/main">
            <a:off x="7524750" y="4333875"/>
            <a:ext cx="285750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76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8">
            <a:extLst xmlns:a="http://schemas.openxmlformats.org/drawingml/2006/main">
              <a:ext uri="{FF2B5EF4-FFF2-40B4-BE49-F238E27FC236}">
                <a16:creationId xmlns:a16="http://schemas.microsoft.com/office/drawing/2014/main" id="{29E25839-EE63-4767-8BAD-ADB6209E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 базовых типа событий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8EC56-6586-4A23-AD47-FE33F401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0041F-1362-4B30-86F7-99DAE2D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0E2ED-3DD1-40EF-AFF2-C3BACF73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Достоверное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f342450df44b4"/>
          <a:stretch xmlns:a="http://schemas.openxmlformats.org/drawingml/2006/main"/>
        </p:blipFill>
        <p:spPr>
          <a:xfrm xmlns:a="http://schemas.openxmlformats.org/drawingml/2006/main">
            <a:off x="628650" y="3000375"/>
            <a:ext cx="2952750" cy="66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3D8AC-FB3A-4060-9288-74963129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происходит всегда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9AA3A-8240-4D42-A340-9BB18963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9900F-1C94-4118-8BFA-65C0BD84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Невозможное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f9674216a4855"/>
          <a:stretch xmlns:a="http://schemas.openxmlformats.org/drawingml/2006/main"/>
        </p:blipFill>
        <p:spPr>
          <a:xfrm xmlns:a="http://schemas.openxmlformats.org/drawingml/2006/main">
            <a:off x="4419600" y="3000375"/>
            <a:ext cx="2952750" cy="66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6EC98-5C6E-4B26-BE56-6936D15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не может произойти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E8A65-4788-4FF0-BB0C-56F88B1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621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B5497-D5EB-4620-8AA3-36A9BCDD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Случайное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0842bbda84705"/>
          <a:stretch xmlns:a="http://schemas.openxmlformats.org/drawingml/2006/main"/>
        </p:blipFill>
        <p:spPr>
          <a:xfrm xmlns:a="http://schemas.openxmlformats.org/drawingml/2006/main">
            <a:off x="8210550" y="3000375"/>
            <a:ext cx="2952750" cy="666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A69BC-C8FB-4B69-8E81-1506084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38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может произойти или нет</a:t>
            </a:r>
          </a:p>
        </p:txBody>
      </p:sp>
    </p:spTree>
    <p:extLst>
      <p:ext uri="{BB962C8B-B14F-4D97-AF65-F5344CB8AC3E}">
        <p14:creationId xmlns:p14="http://schemas.microsoft.com/office/powerpoint/2010/main" val="110319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9">
            <a:extLst xmlns:a="http://schemas.openxmlformats.org/drawingml/2006/main">
              <a:ext uri="{FF2B5EF4-FFF2-40B4-BE49-F238E27FC236}">
                <a16:creationId xmlns:a16="http://schemas.microsoft.com/office/drawing/2014/main" id="{A04189E4-86BF-4311-A8F1-92CABF7B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Совместность определяется пересечением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9CC5C-84DA-4CA6-B788-F3749C29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A7879-A16B-412B-AF6F-C0B4FA2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Совместные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8ddc3a5c24c72"/>
          <a:stretch xmlns:a="http://schemas.openxmlformats.org/drawingml/2006/main"/>
        </p:blipFill>
        <p:spPr>
          <a:xfrm xmlns:a="http://schemas.openxmlformats.org/drawingml/2006/main">
            <a:off x="552450" y="2333625"/>
            <a:ext cx="4762500" cy="66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C5EF7-3B34-40E3-B2CC-EF862A13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Могут наступить в одном опыте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905500" y="1476375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DEEB7-EFEF-49BE-BE4D-A069A946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Несовместные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947a8a42f420f"/>
          <a:stretch xmlns:a="http://schemas.openxmlformats.org/drawingml/2006/main"/>
        </p:blipFill>
        <p:spPr>
          <a:xfrm xmlns:a="http://schemas.openxmlformats.org/drawingml/2006/main">
            <a:off x="6477000" y="2333625"/>
            <a:ext cx="4762500" cy="666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FA4D0-F1DD-4F4E-BD8E-374579F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Вместе наступить не могут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49701-3C61-4557-B2D1-B1825459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861BE-5727-4B11-B263-38F957C1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Несовместность — логика, а не независимость.</a:t>
            </a:r>
          </a:p>
        </p:txBody>
      </p:sp>
    </p:spTree>
    <p:extLst>
      <p:ext uri="{BB962C8B-B14F-4D97-AF65-F5344CB8AC3E}">
        <p14:creationId xmlns:p14="http://schemas.microsoft.com/office/powerpoint/2010/main" val="1483965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0">
            <a:extLst xmlns:a="http://schemas.openxmlformats.org/drawingml/2006/main">
              <a:ext uri="{FF2B5EF4-FFF2-40B4-BE49-F238E27FC236}">
                <a16:creationId xmlns:a16="http://schemas.microsoft.com/office/drawing/2014/main" id="{B1310563-6760-4E66-8584-C9636DBC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Противоположное событие заполняет остаток пространства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E211A-A47B-4611-B3CB-72B8D716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6b92d630c4b9a"/>
          <a:stretch xmlns:a="http://schemas.openxmlformats.org/drawingml/2006/main"/>
        </p:blipFill>
        <p:spPr>
          <a:xfrm xmlns:a="http://schemas.openxmlformats.org/drawingml/2006/main">
            <a:off x="590550" y="1762125"/>
            <a:ext cx="4000500" cy="7143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4f9f8970d4956"/>
          <a:stretch xmlns:a="http://schemas.openxmlformats.org/drawingml/2006/main"/>
        </p:blipFill>
        <p:spPr>
          <a:xfrm xmlns:a="http://schemas.openxmlformats.org/drawingml/2006/main">
            <a:off x="590550" y="2857500"/>
            <a:ext cx="4381500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570CC-F801-45EC-A2CD-0CB9BB73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38300"/>
            <a:ext cx="5619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93E2E-B64C-4C19-B01F-BA09F29D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Пример: кость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8d5c0c35c4e06"/>
          <a:stretch xmlns:a="http://schemas.openxmlformats.org/drawingml/2006/main"/>
        </p:blipFill>
        <p:spPr>
          <a:xfrm xmlns:a="http://schemas.openxmlformats.org/drawingml/2006/main">
            <a:off x="5953125" y="2714625"/>
            <a:ext cx="2190750" cy="523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EF497-9043-40BE-BB4D-75737627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«чётное число»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72787b6944776"/>
          <a:stretch xmlns:a="http://schemas.openxmlformats.org/drawingml/2006/main"/>
        </p:blipFill>
        <p:spPr>
          <a:xfrm xmlns:a="http://schemas.openxmlformats.org/drawingml/2006/main">
            <a:off x="8572500" y="2714625"/>
            <a:ext cx="2190750" cy="523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7E019-C94B-4A43-AEC6-EDB4A3D6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«нечётное число»</a:t>
            </a:r>
          </a:p>
        </p:txBody>
      </p:sp>
    </p:spTree>
    <p:extLst>
      <p:ext uri="{BB962C8B-B14F-4D97-AF65-F5344CB8AC3E}">
        <p14:creationId xmlns:p14="http://schemas.microsoft.com/office/powerpoint/2010/main" val="1530321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3BD7A59C-B4FA-4005-B423-AED42705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Полная группа разбивает пространство исходов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66D90-CC83-401C-B01C-0438D7B4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00a4e1c394f45"/>
          <a:stretch xmlns:a="http://schemas.openxmlformats.org/drawingml/2006/main"/>
        </p:blipFill>
        <p:spPr>
          <a:xfrm xmlns:a="http://schemas.openxmlformats.org/drawingml/2006/main">
            <a:off x="647700" y="1714500"/>
            <a:ext cx="5334000" cy="5715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2564c189a499e"/>
          <a:stretch xmlns:a="http://schemas.openxmlformats.org/drawingml/2006/main"/>
        </p:blipFill>
        <p:spPr>
          <a:xfrm xmlns:a="http://schemas.openxmlformats.org/drawingml/2006/main">
            <a:off x="647700" y="2714625"/>
            <a:ext cx="5334000" cy="619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2184E-2C74-4AB4-8369-48DC7DED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Два условия для полной группы: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9282E-5BEE-4E77-ADB3-A943E486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попарно несовместны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вместе исчерпывают 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54682-8524-4140-9EE7-58A0179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476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993DD-1B89-4ED3-B076-00E4BD5F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002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Бросок кости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4ca3f46314e71"/>
          <a:stretch xmlns:a="http://schemas.openxmlformats.org/drawingml/2006/main"/>
        </p:blipFill>
        <p:spPr>
          <a:xfrm xmlns:a="http://schemas.openxmlformats.org/drawingml/2006/main">
            <a:off x="7000875" y="3000375"/>
            <a:ext cx="1524000" cy="523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058E7-73E7-43E3-8D26-BCCFC6E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или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530a75f134936"/>
          <a:stretch xmlns:a="http://schemas.openxmlformats.org/drawingml/2006/main"/>
        </p:blipFill>
        <p:spPr>
          <a:xfrm xmlns:a="http://schemas.openxmlformats.org/drawingml/2006/main">
            <a:off x="9525000" y="3000375"/>
            <a:ext cx="1428750" cy="523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10309-83D4-4FCB-B027-2B521468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957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реализуется ровно одна часть</a:t>
            </a:r>
          </a:p>
        </p:txBody>
      </p:sp>
    </p:spTree>
    <p:extLst>
      <p:ext uri="{BB962C8B-B14F-4D97-AF65-F5344CB8AC3E}">
        <p14:creationId xmlns:p14="http://schemas.microsoft.com/office/powerpoint/2010/main" val="747134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2">
            <a:extLst xmlns:a="http://schemas.openxmlformats.org/drawingml/2006/main">
              <a:ext uri="{FF2B5EF4-FFF2-40B4-BE49-F238E27FC236}">
                <a16:creationId xmlns:a16="http://schemas.microsoft.com/office/drawing/2014/main" id="{D63E21D9-8EED-4A36-9F2C-57FFD34B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Независимость не равна несовместности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622A1-9BF9-4DA1-914A-564190B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A9235-DFA4-46A9-A1D2-8AFF782C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Независимость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0081fe4dc49cb"/>
          <a:stretch xmlns:a="http://schemas.openxmlformats.org/drawingml/2006/main"/>
        </p:blipFill>
        <p:spPr>
          <a:xfrm xmlns:a="http://schemas.openxmlformats.org/drawingml/2006/main">
            <a:off x="552450" y="2428875"/>
            <a:ext cx="4953000" cy="619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230E1-A9C8-42A6-839E-D9A8C632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Наступление одного не меняет вероятность другого.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905500" y="1476375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DFF3A-30A7-41D4-A652-5BAAF7D9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Несовместность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70bce771b4ff4"/>
          <a:stretch xmlns:a="http://schemas.openxmlformats.org/drawingml/2006/main"/>
        </p:blipFill>
        <p:spPr>
          <a:xfrm xmlns:a="http://schemas.openxmlformats.org/drawingml/2006/main">
            <a:off x="6477000" y="2428875"/>
            <a:ext cx="4762500" cy="619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53609-10CA-43EC-A49C-50F9516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События не могут наступить вместе.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7BF38-5088-4CAB-B55B-95FBD60B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Строгое обоснование — после условной вероятности.</a:t>
            </a:r>
          </a:p>
        </p:txBody>
      </p:sp>
    </p:spTree>
    <p:extLst>
      <p:ext uri="{BB962C8B-B14F-4D97-AF65-F5344CB8AC3E}">
        <p14:creationId xmlns:p14="http://schemas.microsoft.com/office/powerpoint/2010/main" val="12144298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3">
            <a:extLst xmlns:a="http://schemas.openxmlformats.org/drawingml/2006/main">
              <a:ext uri="{FF2B5EF4-FFF2-40B4-BE49-F238E27FC236}">
                <a16:creationId xmlns:a16="http://schemas.microsoft.com/office/drawing/2014/main" id="{EE267995-BFBE-452A-AE4A-4892169A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 операции переводят слова в формулы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3F763-F407-476F-8064-AD65248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89572-5466-415C-A193-77E50360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Сумма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03948-B006-4930-81E4-3B6EFB63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e096ab7f14bde"/>
          <a:stretch xmlns:a="http://schemas.openxmlformats.org/drawingml/2006/main"/>
        </p:blipFill>
        <p:spPr>
          <a:xfrm xmlns:a="http://schemas.openxmlformats.org/drawingml/2006/main">
            <a:off x="590550" y="2619375"/>
            <a:ext cx="3048000" cy="714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C4700-C1A5-46E9-8070-A6C6CDEA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произошло хотя бы одно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C2808-C0AA-43A6-AC1E-28059934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Произведение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846D8-477C-4792-95A1-251EB8A5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8ca3357fb47d5"/>
          <a:stretch xmlns:a="http://schemas.openxmlformats.org/drawingml/2006/main"/>
        </p:blipFill>
        <p:spPr>
          <a:xfrm xmlns:a="http://schemas.openxmlformats.org/drawingml/2006/main">
            <a:off x="4381500" y="2619375"/>
            <a:ext cx="3048000" cy="714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A65D9-FE48-4D47-B3B9-FF3A28F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862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произошли оба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2CFDF-795F-47FA-B092-54228FE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66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Дополнение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D6323-8E1E-48EE-A7E9-2571F3B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336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98b2db2ab4428"/>
          <a:stretch xmlns:a="http://schemas.openxmlformats.org/drawingml/2006/main"/>
        </p:blipFill>
        <p:spPr>
          <a:xfrm xmlns:a="http://schemas.openxmlformats.org/drawingml/2006/main">
            <a:off x="8172450" y="2619375"/>
            <a:ext cx="3048000" cy="714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997CF-E06A-4C0E-8524-4652F86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событие A не произошло</a:t>
            </a:r>
          </a:p>
        </p:txBody>
      </p:sp>
    </p:spTree>
    <p:extLst>
      <p:ext uri="{BB962C8B-B14F-4D97-AF65-F5344CB8AC3E}">
        <p14:creationId xmlns:p14="http://schemas.microsoft.com/office/powerpoint/2010/main" val="1671336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14">
            <a:extLst xmlns:a="http://schemas.openxmlformats.org/drawingml/2006/main">
              <a:ext uri="{FF2B5EF4-FFF2-40B4-BE49-F238E27FC236}">
                <a16:creationId xmlns:a16="http://schemas.microsoft.com/office/drawing/2014/main" id="{E7435763-A411-47AB-A135-8876465D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Законы де Моргана переносят отрицание внутрь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CEAC0-CE7F-40A5-A72B-21C83F16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F9CBA-99BC-4E34-8252-47AFA7BA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9168398164a1c"/>
          <a:stretch xmlns:a="http://schemas.openxmlformats.org/drawingml/2006/main"/>
        </p:blipFill>
        <p:spPr>
          <a:xfrm xmlns:a="http://schemas.openxmlformats.org/drawingml/2006/main">
            <a:off x="857250" y="2047875"/>
            <a:ext cx="4572000" cy="4572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8ea9bdcd64f00"/>
          <a:stretch xmlns:a="http://schemas.openxmlformats.org/drawingml/2006/main"/>
        </p:blipFill>
        <p:spPr>
          <a:xfrm xmlns:a="http://schemas.openxmlformats.org/drawingml/2006/main">
            <a:off x="857250" y="3000375"/>
            <a:ext cx="4572000" cy="714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B4A48-C593-42CD-9459-92393D5D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не A и не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A0EF1-9EEE-4FC4-B386-036FF08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35abad870417e"/>
          <a:stretch xmlns:a="http://schemas.openxmlformats.org/drawingml/2006/main"/>
        </p:blipFill>
        <p:spPr>
          <a:xfrm xmlns:a="http://schemas.openxmlformats.org/drawingml/2006/main">
            <a:off x="6572250" y="2047875"/>
            <a:ext cx="4572000" cy="4572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5ba2bf4f244ea"/>
          <a:stretch xmlns:a="http://schemas.openxmlformats.org/drawingml/2006/main"/>
        </p:blipFill>
        <p:spPr>
          <a:xfrm xmlns:a="http://schemas.openxmlformats.org/drawingml/2006/main">
            <a:off x="6572250" y="3000375"/>
            <a:ext cx="4572000" cy="714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D37BA-4BF3-42BF-9952-CD40DCE2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не произошло хотя бы одно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7DC9A-0DAF-42D5-98D8-AEDCE7BD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Черта сверху означает дополнение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2473772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5">
            <a:extLst xmlns:a="http://schemas.openxmlformats.org/drawingml/2006/main">
              <a:ext uri="{FF2B5EF4-FFF2-40B4-BE49-F238E27FC236}">
                <a16:creationId xmlns:a16="http://schemas.microsoft.com/office/drawing/2014/main" id="{156692B0-7A28-4AB2-87C3-FB06E3E4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Надёжность двух устройств: четыре состояния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03644-F34E-42E5-8E5F-74BC78A6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6F3EF-DF1C-45DD-9451-DCDD7C91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476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5f67143684cc4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213360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B29EC-64C8-4C63-847F-4A299195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оба стабильны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0C85E-E41F-42FE-B384-63E0DFF2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476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def5ab07c4ffa"/>
          <a:stretch xmlns:a="http://schemas.openxmlformats.org/drawingml/2006/main"/>
        </p:blipFill>
        <p:spPr>
          <a:xfrm xmlns:a="http://schemas.openxmlformats.org/drawingml/2006/main">
            <a:off x="3524250" y="2190750"/>
            <a:ext cx="2133600" cy="571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97E8F-8502-4C74-86B5-C48E54B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только первое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F0032-55F1-4D2C-91BC-CF7B9DD2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76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23d799ef14d82"/>
          <a:stretch xmlns:a="http://schemas.openxmlformats.org/drawingml/2006/main"/>
        </p:blipFill>
        <p:spPr>
          <a:xfrm xmlns:a="http://schemas.openxmlformats.org/drawingml/2006/main">
            <a:off x="6381750" y="2190750"/>
            <a:ext cx="21336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B1894-C83C-4BD3-819B-CD2CF84A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только второе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CCF3B-AE3F-480E-914E-F4A3AB78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2476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704652b854cf8"/>
          <a:stretch xmlns:a="http://schemas.openxmlformats.org/drawingml/2006/main"/>
        </p:blipFill>
        <p:spPr>
          <a:xfrm xmlns:a="http://schemas.openxmlformats.org/drawingml/2006/main">
            <a:off x="9239250" y="2190750"/>
            <a:ext cx="2133600" cy="571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D64B7-4755-4F1A-B00E-7837C04B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оба нестабильны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EFDBA-55A2-4832-8F52-5DDD5993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Попарно несовместны и вместе исчерпывают все исходы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029FB-59AF-4A67-A547-2B565100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Хотя бы одно стабильно: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43e8c013a4f72"/>
          <a:stretch xmlns:a="http://schemas.openxmlformats.org/drawingml/2006/main"/>
        </p:blipFill>
        <p:spPr>
          <a:xfrm xmlns:a="http://schemas.openxmlformats.org/drawingml/2006/main">
            <a:off x="4143375" y="5286375"/>
            <a:ext cx="1428750" cy="476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29393-76CA-44D3-917F-BC01B3B0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Хотя бы одно нестабильно: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ab71f8fa74c4c"/>
          <a:stretch xmlns:a="http://schemas.openxmlformats.org/drawingml/2006/main"/>
        </p:blipFill>
        <p:spPr>
          <a:xfrm xmlns:a="http://schemas.openxmlformats.org/drawingml/2006/main">
            <a:off x="9239250" y="5286375"/>
            <a:ext cx="1619250" cy="47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003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6">
            <a:extLst xmlns:a="http://schemas.openxmlformats.org/drawingml/2006/main">
              <a:ext uri="{FF2B5EF4-FFF2-40B4-BE49-F238E27FC236}">
                <a16:creationId xmlns:a16="http://schemas.microsoft.com/office/drawing/2014/main" id="{879375A3-32AC-4007-AB5F-1027C4E8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Большие пространства нельзя выписывать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96EBE-4758-4E31-BC0C-1ACCD6C5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FAED4-7CDE-4605-9E3A-D2BE6A67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Из 100 признаков выбрать 10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0ae2197994af2"/>
          <a:stretch xmlns:a="http://schemas.openxmlformats.org/drawingml/2006/main"/>
        </p:blipFill>
        <p:spPr>
          <a:xfrm xmlns:a="http://schemas.openxmlformats.org/drawingml/2006/main">
            <a:off x="571500" y="2714625"/>
            <a:ext cx="5143500" cy="100012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1c003db2e430b"/>
          <a:stretch xmlns:a="http://schemas.openxmlformats.org/drawingml/2006/main"/>
        </p:blipFill>
        <p:spPr>
          <a:xfrm xmlns:a="http://schemas.openxmlformats.org/drawingml/2006/main">
            <a:off x="571500" y="4048125"/>
            <a:ext cx="4000500" cy="571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127E8-6A9C-449B-A0AA-80B85AF8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наборов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6191250" y="1571625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F3DC3-6909-4F55-984F-3CE5A8F2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Комбинаторика считает варианты без полного перебора.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2545A-071C-4779-82F2-5629255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все исходы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варианты с ограничениями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размер пространства поиска</a:t>
            </a:r>
          </a:p>
        </p:txBody>
      </p:sp>
    </p:spTree>
    <p:extLst>
      <p:ext uri="{BB962C8B-B14F-4D97-AF65-F5344CB8AC3E}">
        <p14:creationId xmlns:p14="http://schemas.microsoft.com/office/powerpoint/2010/main" val="5162545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7">
            <a:extLst xmlns:a="http://schemas.openxmlformats.org/drawingml/2006/main">
              <a:ext uri="{FF2B5EF4-FFF2-40B4-BE49-F238E27FC236}">
                <a16:creationId xmlns:a16="http://schemas.microsoft.com/office/drawing/2014/main" id="{A2A9039F-FC47-47B0-B9F5-9DCAB0D9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Случаи складываем, этапы перемножаем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0CEFB-2137-4265-9AC0-6E89A00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F8E62-21DB-4828-AD20-9E005C22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Правило суммы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722110bd24514"/>
          <a:stretch xmlns:a="http://schemas.openxmlformats.org/drawingml/2006/main"/>
        </p:blipFill>
        <p:spPr>
          <a:xfrm xmlns:a="http://schemas.openxmlformats.org/drawingml/2006/main">
            <a:off x="552450" y="2333625"/>
            <a:ext cx="4762500" cy="619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B526F-6E4F-497E-805F-F8EA0392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взаимоисключающие случаи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905500" y="1476375"/>
            <a:ext cx="0" cy="3810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C696A-61DB-4FB0-A894-A283558E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Правило произведения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15f4967704285"/>
          <a:stretch xmlns:a="http://schemas.openxmlformats.org/drawingml/2006/main"/>
        </p:blipFill>
        <p:spPr>
          <a:xfrm xmlns:a="http://schemas.openxmlformats.org/drawingml/2006/main">
            <a:off x="6477000" y="2333625"/>
            <a:ext cx="4762500" cy="619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620E4-8924-4D76-AF68-8CA179D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последовательные шаги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7DC25-2F2D-46D7-8BDC-6C101A32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1066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F1AE7-C2DC-4248-B36D-06A5ACE8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910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Логин: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e8b4bffdb4a4a"/>
          <a:stretch xmlns:a="http://schemas.openxmlformats.org/drawingml/2006/main"/>
        </p:blipFill>
        <p:spPr>
          <a:xfrm xmlns:a="http://schemas.openxmlformats.org/drawingml/2006/main">
            <a:off x="3095625" y="4543425"/>
            <a:ext cx="4572000" cy="4953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E6B20-BA7B-4DB5-9D52-EFB7652C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вариантов</a:t>
            </a:r>
          </a:p>
        </p:txBody>
      </p:sp>
    </p:spTree>
    <p:extLst>
      <p:ext uri="{BB962C8B-B14F-4D97-AF65-F5344CB8AC3E}">
        <p14:creationId xmlns:p14="http://schemas.microsoft.com/office/powerpoint/2010/main" val="16563768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8">
            <a:extLst xmlns:a="http://schemas.openxmlformats.org/drawingml/2006/main">
              <a:ext uri="{FF2B5EF4-FFF2-40B4-BE49-F238E27FC236}">
                <a16:creationId xmlns:a16="http://schemas.microsoft.com/office/drawing/2014/main" id="{61056070-17FE-4AB1-A5A1-B4C8387A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Факториал — произведение числа выборов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5B1EE-E3E5-4F82-A0D7-E8C99B28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28135fe5a479b"/>
          <a:stretch xmlns:a="http://schemas.openxmlformats.org/drawingml/2006/main"/>
        </p:blipFill>
        <p:spPr>
          <a:xfrm xmlns:a="http://schemas.openxmlformats.org/drawingml/2006/main">
            <a:off x="552450" y="1619250"/>
            <a:ext cx="6191250" cy="762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eb24102db4dfe"/>
          <a:stretch xmlns:a="http://schemas.openxmlformats.org/drawingml/2006/main"/>
        </p:blipFill>
        <p:spPr>
          <a:xfrm xmlns:a="http://schemas.openxmlformats.org/drawingml/2006/main">
            <a:off x="552450" y="2762250"/>
            <a:ext cx="3429000" cy="6667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cf12055bb44ee"/>
          <a:stretch xmlns:a="http://schemas.openxmlformats.org/drawingml/2006/main"/>
        </p:blipFill>
        <p:spPr>
          <a:xfrm xmlns:a="http://schemas.openxmlformats.org/drawingml/2006/main">
            <a:off x="552450" y="3810000"/>
            <a:ext cx="4953000" cy="571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88D49-763F-46FF-A78E-989FD573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000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7EC42-A39D-45AE-A878-4A5989E7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РОСТ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578287c474c4f"/>
          <a:stretch xmlns:a="http://schemas.openxmlformats.org/drawingml/2006/main"/>
        </p:blipFill>
        <p:spPr>
          <a:xfrm xmlns:a="http://schemas.openxmlformats.org/drawingml/2006/main">
            <a:off x="7572375" y="2524125"/>
            <a:ext cx="3333750" cy="1714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B5103-CC83-407B-982B-EB9550BA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Полный перебор очень быстро становится нереалистичным.</a:t>
            </a:r>
          </a:p>
        </p:txBody>
      </p:sp>
    </p:spTree>
    <p:extLst>
      <p:ext uri="{BB962C8B-B14F-4D97-AF65-F5344CB8AC3E}">
        <p14:creationId xmlns:p14="http://schemas.microsoft.com/office/powerpoint/2010/main" val="20816153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9">
            <a:extLst xmlns:a="http://schemas.openxmlformats.org/drawingml/2006/main">
              <a:ext uri="{FF2B5EF4-FFF2-40B4-BE49-F238E27FC236}">
                <a16:creationId xmlns:a16="http://schemas.microsoft.com/office/drawing/2014/main" id="{68A2C862-990A-42F5-8585-09BDB4CB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Перестановки: все элементы, порядок важен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02C00-FACB-4A41-8273-0F677724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b7d2c8bbb4386"/>
          <a:stretch xmlns:a="http://schemas.openxmlformats.org/drawingml/2006/main"/>
        </p:blipFill>
        <p:spPr>
          <a:xfrm xmlns:a="http://schemas.openxmlformats.org/drawingml/2006/main">
            <a:off x="552450" y="1571625"/>
            <a:ext cx="40005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038A7-B68E-43AB-8C99-07D71B32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На первом месте — n вариантов, затем n−1, …,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8EE45-2E01-4CEA-BB10-0AD9FE2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54CEF-797A-4424-8037-49719494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Пять докладчиков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29CEF-207F-4CA6-BDEA-C4F63A9D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без ограничений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666e88b904464"/>
          <a:stretch xmlns:a="http://schemas.openxmlformats.org/drawingml/2006/main"/>
        </p:blipFill>
        <p:spPr>
          <a:xfrm xmlns:a="http://schemas.openxmlformats.org/drawingml/2006/main">
            <a:off x="8858250" y="2619375"/>
            <a:ext cx="1905000" cy="52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652CD-5CA9-42E6-BD1B-0D2C19E0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195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A перед B без разрыва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c3875a743482e"/>
          <a:stretch xmlns:a="http://schemas.openxmlformats.org/drawingml/2006/main"/>
        </p:blipFill>
        <p:spPr>
          <a:xfrm xmlns:a="http://schemas.openxmlformats.org/drawingml/2006/main">
            <a:off x="9048750" y="3667125"/>
            <a:ext cx="1619250" cy="52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932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0">
            <a:extLst xmlns:a="http://schemas.openxmlformats.org/drawingml/2006/main">
              <a:ext uri="{FF2B5EF4-FFF2-40B4-BE49-F238E27FC236}">
                <a16:creationId xmlns:a16="http://schemas.microsoft.com/office/drawing/2014/main" id="{D8FBCF8A-3915-4B44-8645-32869CA5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Размещения: выбираем k и назначаем порядок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B44C4-9D34-4314-BAB7-7CA845D8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73099cd1148b0"/>
          <a:stretch xmlns:a="http://schemas.openxmlformats.org/drawingml/2006/main"/>
        </p:blipFill>
        <p:spPr>
          <a:xfrm xmlns:a="http://schemas.openxmlformats.org/drawingml/2006/main">
            <a:off x="552450" y="1666875"/>
            <a:ext cx="6667500" cy="6477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430a52bb941e5"/>
          <a:stretch xmlns:a="http://schemas.openxmlformats.org/drawingml/2006/main"/>
        </p:blipFill>
        <p:spPr>
          <a:xfrm xmlns:a="http://schemas.openxmlformats.org/drawingml/2006/main">
            <a:off x="552450" y="2667000"/>
            <a:ext cx="6191250" cy="685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474A6-1BDA-45D5-8F3B-B4C2BCA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000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68BCD-A89C-4417-877B-27D37621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52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Результат меняется, если: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84925-1E21-41BD-B4C2-677DDCE6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заменить элемент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поменять элементы местами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9810ffa4f4d75"/>
          <a:stretch xmlns:a="http://schemas.openxmlformats.org/drawingml/2006/main"/>
        </p:blipFill>
        <p:spPr>
          <a:xfrm xmlns:a="http://schemas.openxmlformats.org/drawingml/2006/main">
            <a:off x="7572375" y="4143375"/>
            <a:ext cx="32385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36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21">
            <a:extLst xmlns:a="http://schemas.openxmlformats.org/drawingml/2006/main">
              <a:ext uri="{FF2B5EF4-FFF2-40B4-BE49-F238E27FC236}">
                <a16:creationId xmlns:a16="http://schemas.microsoft.com/office/drawing/2014/main" id="{A70CC6C9-20AE-45E6-AAEB-306E4073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Восемь модулей — три разные роли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A56FD-28BA-47F7-9F70-2F600203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3524250" y="1762125"/>
            <a:ext cx="14287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3524250" y="2667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3524250" y="2667000"/>
            <a:ext cx="14287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B6F1B-EA1C-4D4C-905B-368445EA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E666F-04C3-476F-BE65-16F58202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 модулей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A686F-701C-4561-8182-25A4938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858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4A6AA-E047-40FA-9769-EA3726BD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573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обработчик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24631-DD3E-40CD-AC61-42B52BE5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82997-D752-4ACB-A1E5-B23061A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622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валидатор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245CF-48C0-4E2F-86D1-DF50FB43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3DC62-4B29-4DA3-AAEF-72CF35B4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67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архиватор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52e25749944de"/>
          <a:stretch xmlns:a="http://schemas.openxmlformats.org/drawingml/2006/main"/>
        </p:blipFill>
        <p:spPr>
          <a:xfrm xmlns:a="http://schemas.openxmlformats.org/drawingml/2006/main">
            <a:off x="8143875" y="2238375"/>
            <a:ext cx="3143250" cy="9048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60B15-FDBA-4B4E-B175-17CFCEE0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Тот же набор с другим назначением — уже другая конфигурация.</a:t>
            </a:r>
          </a:p>
        </p:txBody>
      </p:sp>
    </p:spTree>
    <p:extLst>
      <p:ext uri="{BB962C8B-B14F-4D97-AF65-F5344CB8AC3E}">
        <p14:creationId xmlns:p14="http://schemas.microsoft.com/office/powerpoint/2010/main" val="9701820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22">
            <a:extLst xmlns:a="http://schemas.openxmlformats.org/drawingml/2006/main">
              <a:ext uri="{FF2B5EF4-FFF2-40B4-BE49-F238E27FC236}">
                <a16:creationId xmlns:a16="http://schemas.microsoft.com/office/drawing/2014/main" id="{7D22CA60-275B-49E0-B056-CC69CE34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Сочетания: состав важен, порядок нет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12E44-0126-465D-AA78-630C5EB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a893f9d734f03"/>
          <a:stretch xmlns:a="http://schemas.openxmlformats.org/drawingml/2006/main"/>
        </p:blipFill>
        <p:spPr>
          <a:xfrm xmlns:a="http://schemas.openxmlformats.org/drawingml/2006/main">
            <a:off x="552450" y="1524000"/>
            <a:ext cx="6858000" cy="80962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65ca5b9044328"/>
          <a:stretch xmlns:a="http://schemas.openxmlformats.org/drawingml/2006/main"/>
        </p:blipFill>
        <p:spPr>
          <a:xfrm xmlns:a="http://schemas.openxmlformats.org/drawingml/2006/main">
            <a:off x="552450" y="2714625"/>
            <a:ext cx="571500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3ADFF-F452-477D-B448-E9608E30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Один выбранный набор можно упорядочить k! способами.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A2118-EEAC-42E4-A84A-74F67E62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71625"/>
            <a:ext cx="41433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E5479-591C-4F27-8114-AF767E92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Выбрать 3 признака из 8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70c384dcb4154"/>
          <a:stretch xmlns:a="http://schemas.openxmlformats.org/drawingml/2006/main"/>
        </p:blipFill>
        <p:spPr>
          <a:xfrm xmlns:a="http://schemas.openxmlformats.org/drawingml/2006/main">
            <a:off x="7381875" y="2952750"/>
            <a:ext cx="3571875" cy="6667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0dde2715d4267"/>
          <a:stretch xmlns:a="http://schemas.openxmlformats.org/drawingml/2006/main"/>
        </p:blipFill>
        <p:spPr>
          <a:xfrm xmlns:a="http://schemas.openxmlformats.org/drawingml/2006/main">
            <a:off x="7381875" y="4000500"/>
            <a:ext cx="3571875" cy="47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79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23">
            <a:extLst xmlns:a="http://schemas.openxmlformats.org/drawingml/2006/main">
              <a:ext uri="{FF2B5EF4-FFF2-40B4-BE49-F238E27FC236}">
                <a16:creationId xmlns:a16="http://schemas.microsoft.com/office/drawing/2014/main" id="{0FFF8826-05BD-43AE-81E9-A90CA7B2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выбрать формулу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8B606-BFC6-4007-BAFC-A3C0412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2714625" y="2667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3333750" y="1571625"/>
            <a:ext cx="0" cy="2190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3333750" y="1571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3333750" y="2667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3333750" y="3762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619125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6953250" y="3762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6953250" y="3762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6953250" y="4857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0BF85-AD3B-447E-AB63-105DA43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3372A-8942-4EAA-98CA-DF09ED3A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устроен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результат?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FCB06-EE60-4A8E-A4A4-0B9773F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190625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6E1DF-A901-4D57-B0A2-0DECABF2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001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случаи → сумма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16774-51B6-41A4-A708-C39BFE71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860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107F8-FC45-496A-90B4-A46E84CF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955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5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этапы → произведение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FE3CE-5A26-4B86-9B7D-9AA7BB93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81375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6861C-02BD-485B-A76D-2C8F1C44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909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выбор k из 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AF085-808B-45A5-A9F5-0E52D377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3000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85DCA-3CBE-456C-BE5F-7E41D63F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766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порядок не важен →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c6d895f614f96"/>
          <a:stretch xmlns:a="http://schemas.openxmlformats.org/drawingml/2006/main"/>
        </p:blipFill>
        <p:spPr>
          <a:xfrm xmlns:a="http://schemas.openxmlformats.org/drawingml/2006/main">
            <a:off x="8477250" y="3733800"/>
            <a:ext cx="1285875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6DF27-9EBE-471B-A720-206BAFC6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000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5DDF8-4E15-49A3-81F9-8EE762E9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порядок важен →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4bbf1ee184f95"/>
          <a:stretch xmlns:a="http://schemas.openxmlformats.org/drawingml/2006/main"/>
        </p:blipFill>
        <p:spPr>
          <a:xfrm xmlns:a="http://schemas.openxmlformats.org/drawingml/2006/main">
            <a:off x="9525000" y="4524375"/>
            <a:ext cx="857250" cy="3048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8E839-ABF8-43B5-9558-E3338283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95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все элементы →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63dcbccd442d6"/>
          <a:stretch xmlns:a="http://schemas.openxmlformats.org/drawingml/2006/main"/>
        </p:blipFill>
        <p:spPr>
          <a:xfrm xmlns:a="http://schemas.openxmlformats.org/drawingml/2006/main">
            <a:off x="9525000" y="4867275"/>
            <a:ext cx="857250" cy="3048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B4387-FD69-4FF7-AFFB-849FE465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661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В этой лекции: выбор без повторений</a:t>
            </a:r>
          </a:p>
        </p:txBody>
      </p:sp>
    </p:spTree>
    <p:extLst>
      <p:ext uri="{BB962C8B-B14F-4D97-AF65-F5344CB8AC3E}">
        <p14:creationId xmlns:p14="http://schemas.microsoft.com/office/powerpoint/2010/main" val="19563349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24">
            <a:extLst xmlns:a="http://schemas.openxmlformats.org/drawingml/2006/main">
              <a:ext uri="{FF2B5EF4-FFF2-40B4-BE49-F238E27FC236}">
                <a16:creationId xmlns:a16="http://schemas.microsoft.com/office/drawing/2014/main" id="{C61D9430-3372-4CE5-AA1C-BEB71270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Команда: разбиваем «не менее двух» на случаи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C2F34-49A4-4893-BB7A-A54FAEC7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7A822-DAFF-4DEC-87B2-B2F061D1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12 девушек + 10 юношей → выбрать 4 человек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C2E2C-35D4-4005-A540-B7866D08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5D2A7-23E0-4DB5-A1E3-E5D44003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527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юноши + 2 девушки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d121b9e0f41a6"/>
          <a:stretch xmlns:a="http://schemas.openxmlformats.org/drawingml/2006/main"/>
        </p:blipFill>
        <p:spPr>
          <a:xfrm xmlns:a="http://schemas.openxmlformats.org/drawingml/2006/main">
            <a:off x="733425" y="3810000"/>
            <a:ext cx="2914650" cy="523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91E57-3A78-4315-A188-A5F45BA6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717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D2E05-CF49-46F1-B7DB-5F8BDC1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527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юноши + 1 девушка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a6279b7be417d"/>
          <a:stretch xmlns:a="http://schemas.openxmlformats.org/drawingml/2006/main"/>
        </p:blipFill>
        <p:spPr>
          <a:xfrm xmlns:a="http://schemas.openxmlformats.org/drawingml/2006/main">
            <a:off x="4448175" y="3810000"/>
            <a:ext cx="2914650" cy="523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8C8B8-6994-4E31-B780-A040624E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E4F9D-5A67-46F3-9534-988CFE0A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527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юноши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27521adc246b7"/>
          <a:stretch xmlns:a="http://schemas.openxmlformats.org/drawingml/2006/main"/>
        </p:blipFill>
        <p:spPr>
          <a:xfrm xmlns:a="http://schemas.openxmlformats.org/drawingml/2006/main">
            <a:off x="8162925" y="3810000"/>
            <a:ext cx="2914650" cy="523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DC3A7-7B86-4D31-8BCD-6FF4A517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Случаи несовместны — результаты складываем.</a:t>
            </a:r>
          </a:p>
        </p:txBody>
      </p:sp>
    </p:spTree>
    <p:extLst>
      <p:ext uri="{BB962C8B-B14F-4D97-AF65-F5344CB8AC3E}">
        <p14:creationId xmlns:p14="http://schemas.microsoft.com/office/powerpoint/2010/main" val="5140221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5">
            <a:extLst xmlns:a="http://schemas.openxmlformats.org/drawingml/2006/main">
              <a:ext uri="{FF2B5EF4-FFF2-40B4-BE49-F238E27FC236}">
                <a16:creationId xmlns:a16="http://schemas.microsoft.com/office/drawing/2014/main" id="{C087C602-F83A-4F6A-BBDE-B203DC2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Формула даёт 4620 допустимых команд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39BE5-247F-41F8-BC57-9C7EC819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ab80b67734dd9"/>
          <a:stretch xmlns:a="http://schemas.openxmlformats.org/drawingml/2006/main"/>
        </p:blipFill>
        <p:spPr>
          <a:xfrm xmlns:a="http://schemas.openxmlformats.org/drawingml/2006/main">
            <a:off x="619125" y="1619250"/>
            <a:ext cx="2381250" cy="4953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fab25d48240ef"/>
          <a:stretch xmlns:a="http://schemas.openxmlformats.org/drawingml/2006/main"/>
        </p:blipFill>
        <p:spPr>
          <a:xfrm xmlns:a="http://schemas.openxmlformats.org/drawingml/2006/main">
            <a:off x="3429000" y="1619250"/>
            <a:ext cx="3429000" cy="49530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312c88bdc49be"/>
          <a:stretch xmlns:a="http://schemas.openxmlformats.org/drawingml/2006/main"/>
        </p:blipFill>
        <p:spPr>
          <a:xfrm xmlns:a="http://schemas.openxmlformats.org/drawingml/2006/main">
            <a:off x="619125" y="2571750"/>
            <a:ext cx="2381250" cy="4953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266bfac904c8a"/>
          <a:stretch xmlns:a="http://schemas.openxmlformats.org/drawingml/2006/main"/>
        </p:blipFill>
        <p:spPr>
          <a:xfrm xmlns:a="http://schemas.openxmlformats.org/drawingml/2006/main">
            <a:off x="3429000" y="2571750"/>
            <a:ext cx="3429000" cy="4953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d60ea4cc54836"/>
          <a:stretch xmlns:a="http://schemas.openxmlformats.org/drawingml/2006/main"/>
        </p:blipFill>
        <p:spPr>
          <a:xfrm xmlns:a="http://schemas.openxmlformats.org/drawingml/2006/main">
            <a:off x="619125" y="3524250"/>
            <a:ext cx="2381250" cy="4953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2915cf98f4e92"/>
          <a:stretch xmlns:a="http://schemas.openxmlformats.org/drawingml/2006/main"/>
        </p:blipFill>
        <p:spPr>
          <a:xfrm xmlns:a="http://schemas.openxmlformats.org/drawingml/2006/main">
            <a:off x="3429000" y="3524250"/>
            <a:ext cx="3429000" cy="495300"/>
          </a:xfrm>
          <a:prstGeom xmlns:a="http://schemas.openxmlformats.org/drawingml/2006/main" prst="rect">
            <a:avLst/>
          </a:prstGeom>
        </p:spPr>
      </p:pic>
      <p:cxnSp>
        <p:nvCxnSpPr>
          <p:cNvPr id="42" name=""/>
          <p:cNvCxnSpPr/>
          <p:nvPr/>
        </p:nvCxnSpPr>
        <p:spPr>
          <a:xfrm xmlns:a="http://schemas.openxmlformats.org/drawingml/2006/main">
            <a:off x="619125" y="4333875"/>
            <a:ext cx="6334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d500d6f7649ec"/>
          <a:stretch xmlns:a="http://schemas.openxmlformats.org/drawingml/2006/main"/>
        </p:blipFill>
        <p:spPr>
          <a:xfrm xmlns:a="http://schemas.openxmlformats.org/drawingml/2006/main">
            <a:off x="619125" y="4667250"/>
            <a:ext cx="6334125" cy="476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496E7-D85C-4854-8D67-6618AE52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39179-4CA8-4ABC-BD13-A281EA6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C6034-FD97-45EB-ABE5-DDF0D270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4620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3F659-B788-44E2-B97A-275804C6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команд</a:t>
            </a:r>
          </a:p>
        </p:txBody>
      </p:sp>
    </p:spTree>
    <p:extLst>
      <p:ext uri="{BB962C8B-B14F-4D97-AF65-F5344CB8AC3E}">
        <p14:creationId xmlns:p14="http://schemas.microsoft.com/office/powerpoint/2010/main" val="11949950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26">
            <a:extLst xmlns:a="http://schemas.openxmlformats.org/drawingml/2006/main">
              <a:ext uri="{FF2B5EF4-FFF2-40B4-BE49-F238E27FC236}">
                <a16:creationId xmlns:a16="http://schemas.microsoft.com/office/drawing/2014/main" id="{F4040795-AAE0-4231-ACA2-4453548D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подтверждает аналитический результат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9A7A9-D1AD-4280-9BD6-FFCCF790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6238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b8495f779a4a5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5F6EB-4BDB-4B38-A832-94AF82DF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A373F-1745-49CD-B240-61D3EB6B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0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02A06-C0B3-4844-BE75-08E9C0C6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33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2970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CDA1B-394E-43FE-A8F9-64AF6720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00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1440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114E0-81AF-40B6-8515-CDCDCC35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52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0C59C-7768-4441-89DE-91A2826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BD7B8-9090-4B00-A978-39FE7B6C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42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for team in combinations(group, 4):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k = count_boys(team)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counts[k] += 1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7524750" y="338137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21277-E8D2-47AE-AFEC-4E01525D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Перебор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E2149-6FED-4A15-925A-AC6D4EFE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4620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2A571-0665-4E27-B823-68C0B966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338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Формула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CCAFE-463C-44CA-B21E-708B1816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672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4620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35530-D83E-49A6-81D3-2BAAEA68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00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assert: результаты совпали</a:t>
            </a:r>
          </a:p>
        </p:txBody>
      </p:sp>
    </p:spTree>
    <p:extLst>
      <p:ext uri="{BB962C8B-B14F-4D97-AF65-F5344CB8AC3E}">
        <p14:creationId xmlns:p14="http://schemas.microsoft.com/office/powerpoint/2010/main" val="18956690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27">
            <a:extLst xmlns:a="http://schemas.openxmlformats.org/drawingml/2006/main">
              <a:ext uri="{FF2B5EF4-FFF2-40B4-BE49-F238E27FC236}">
                <a16:creationId xmlns:a16="http://schemas.microsoft.com/office/drawing/2014/main" id="{B4E8BAE8-C3AE-4C70-B31C-96CD7550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Четыре ошибки, которые ломают решение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5CF2-39E1-4060-BCB5-B1E9FD36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0AE71-87C5-4EC1-BC28-43FA044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2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9AAAE-A0A7-428B-A009-5E33C4D8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71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 построено пространство исходов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04B78-1A29-47E8-9732-3BA7CFEF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383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часть исходов теряется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95300" y="30003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D073E-AED4-4885-A1C3-FB4EDEA7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19250"/>
            <a:ext cx="52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3E258-41DD-4A43-AE1D-01D317CD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71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= событие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D25E1-C1DD-47C0-8217-A39B7C0B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смешаны элемент и множество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115050" y="30003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DFA7B-E537-4DA8-8119-27A42F9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52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5C7EC-15E3-4401-BAA7-F0A4ED21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671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Несовместность = независимость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08457-92CD-42BA-885B-7E1A7CC3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33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перепутаны логика и влияние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95300" y="50958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CFC9C-9B3E-4405-9387-60E6DD7D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52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DFD39-8F8F-460C-A093-9BB763B6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671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Порядок учтён неверно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B8B9D-0A10-46FB-AFD4-638D8B9B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33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размещение выбрано вместо сочетания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115050" y="5095875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8ADEF-4C72-4F1F-AE20-7EE7F9E7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Проверка здравого смысла: допустимых объектов не больше, чем всех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1070070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28">
            <a:extLst xmlns:a="http://schemas.openxmlformats.org/drawingml/2006/main">
              <a:ext uri="{FF2B5EF4-FFF2-40B4-BE49-F238E27FC236}">
                <a16:creationId xmlns:a16="http://schemas.microsoft.com/office/drawing/2014/main" id="{DD783C16-C6A0-4800-BC5B-BB6B27BC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От модели к формуле — единый алгоритм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123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219CA-54D4-48F5-8DE3-F3EC37B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34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143000" y="2667000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93511-B7C4-400C-9CE1-919553EE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1FBE3-A8A2-4EAB-BE18-75BD9B31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905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Эксперимент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A4714-9B1C-480F-A57E-38732170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2420E-0A85-4DCC-955E-BD395491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905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34B52-7039-40D5-BA21-306F7B13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F27EA-919E-4E2F-BCA7-9099DDFF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05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8CB53-F259-492F-A8CC-23AA34B9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901A0-C089-4D84-A54B-87AE4BB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Структура выбора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49785-496B-4020-918A-4CDD4F39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A435B-1733-4C4E-97E4-8EC0BAFF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05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Формула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F9539-D923-4030-97E5-1EB0595D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Самопроверка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82E63-760E-4012-86E6-313EA04F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Как построить полную группу?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Чем пересечение отличается от объединения?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Когда нужны сочетания?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7214B-C967-45F4-9AF3-DBE002E6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57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32C58-B24E-4815-9E63-B312688C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Следующая лекция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2F4A4-AE58-487C-8772-DD017B41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назначить событиям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числовые вероятности?</a:t>
            </a:r>
          </a:p>
        </p:txBody>
      </p:sp>
    </p:spTree>
    <p:extLst>
      <p:ext uri="{BB962C8B-B14F-4D97-AF65-F5344CB8AC3E}">
        <p14:creationId xmlns:p14="http://schemas.microsoft.com/office/powerpoint/2010/main" val="1825983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2026-08-07T11:37:53.4590000Z</dcterms:created>
  <dcterms:modified xsi:type="dcterms:W3CDTF">2026-08-07T11:37:53.4590000Z</dcterms:modified>
</coreProperties>
</file>