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6"/>
    <p:sldId id="291" r:id="rId5"/>
    <p:sldId id="292" r:id="rId4"/>
    <p:sldId id="293" r:id="rId3"/>
    <p:sldId id="294" r:id="rId2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b5f105f5-528e-1bbc-1375-6bef619ea4c5}">
          <p14:sldIdLst>
            <p14:sldId id="256"/>
            <p14:sldId id="257"/>
            <p14:sldId id="258"/>
          </p14:sldIdLst>
        </p14:section>
        <p14:section name="Случайная величина" id="{54f787ba-b33d-ce33-8649-a3c6963b06cf}">
          <p14:sldIdLst>
            <p14:sldId id="259"/>
            <p14:sldId id="260"/>
            <p14:sldId id="261"/>
            <p14:sldId id="262"/>
          </p14:sldIdLst>
        </p14:section>
        <p14:section name="Дискретные величины" id="{8eebc759-f193-4ffa-8c70-18bf82f13175}">
          <p14:sldIdLst>
            <p14:sldId id="263"/>
            <p14:sldId id="264"/>
          </p14:sldIdLst>
        </p14:section>
        <p14:section name="Функция распределения" id="{78f22b51-6829-bbbf-64df-7f28e6491fc3}">
          <p14:sldIdLst>
            <p14:sldId id="265"/>
            <p14:sldId id="266"/>
            <p14:sldId id="267"/>
            <p14:sldId id="268"/>
          </p14:sldIdLst>
        </p14:section>
        <p14:section name="Непрерывные величины" id="{205b3bd2-6af9-d82b-76d3-7b4f9a3ff20d}">
          <p14:sldIdLst>
            <p14:sldId id="269"/>
            <p14:sldId id="270"/>
            <p14:sldId id="271"/>
            <p14:sldId id="272"/>
            <p14:sldId id="273"/>
          </p14:sldIdLst>
        </p14:section>
        <p14:section name="Квантили и данные" id="{e78002c4-cc46-ce93-55b7-50fbad578964}">
          <p14:sldIdLst>
            <p14:sldId id="274"/>
            <p14:sldId id="275"/>
            <p14:sldId id="276"/>
          </p14:sldIdLst>
        </p14:section>
        <p14:section name="Основные распределения" id="{be7bda4b-715d-71f3-97f4-292c16ec1c2b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Распределения в анализе данных" id="{712c89dc-8652-d2e2-ad9e-178474a6b279}">
          <p14:sldIdLst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Итоги" id="{779caeee-8ad6-958a-685f-ae6691fa3111}">
          <p14:sldIdLst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9.xml"/><Relationship Id="rId3" Type="http://schemas.openxmlformats.org/officeDocument/2006/relationships/slide" Target="slides/slide38.xml"/><Relationship Id="rId4" Type="http://schemas.openxmlformats.org/officeDocument/2006/relationships/slide" Target="slides/slide37.xml"/><Relationship Id="rId5" Type="http://schemas.openxmlformats.org/officeDocument/2006/relationships/slide" Target="slides/slide36.xml"/><Relationship Id="rId6" Type="http://schemas.openxmlformats.org/officeDocument/2006/relationships/slide" Target="slides/slide3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05840"/>
            <a:ext cx="11094415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3B82F6"/>
                </a:solidFill>
                <a:latin typeface="Arial"/>
              </a:rPr>
              <a:t>ТЕОРИЯ ВЕРОЯТНОСТЕЙ · ЛЕКЦИЯ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3800" b="1">
                <a:solidFill>
                  <a:srgbClr val="1F2937"/>
                </a:solidFill>
                <a:latin typeface="Arial"/>
              </a:rPr>
              <a:t>Закон больших чисел</a:t>
            </a:r>
          </a:p>
          <a:p>
            <a:pPr>
              <a:spcAft>
                <a:spcPts val="400"/>
              </a:spcAft>
            </a:pPr>
            <a:r>
              <a:rPr sz="3800" b="1">
                <a:solidFill>
                  <a:srgbClr val="1F2937"/>
                </a:solidFill>
                <a:latin typeface="Arial"/>
              </a:rPr>
              <a:t>и центральная</a:t>
            </a:r>
          </a:p>
          <a:p>
            <a:pPr>
              <a:spcAft>
                <a:spcPts val="400"/>
              </a:spcAft>
            </a:pPr>
            <a:r>
              <a:rPr sz="3800" b="1">
                <a:solidFill>
                  <a:srgbClr val="1F2937"/>
                </a:solidFill>
                <a:latin typeface="Arial"/>
              </a:rPr>
              <a:t>предельная теорема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6052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6B7280"/>
                </a:solidFill>
                <a:latin typeface="Arial"/>
              </a:rPr>
              <a:t>Почему среднее многих наблюдений устойчиво, как распределена его ошибка и сколько нужно данных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0" y="457200"/>
            <a:ext cx="3108960" cy="310896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_70dfad0c0a265b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600200"/>
            <a:ext cx="2218944" cy="4602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ИТМО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От модели к данным: обратная задача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6309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Arial"/>
              </a:rPr>
              <a:t>До сих пор: распределение известно → считаем вероятности. В жизни наоборот: есть данные, распределение неизвестно.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86000"/>
            <a:ext cx="6309360" cy="749808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3291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Сервис ответил на 10 000 запросов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286000"/>
            <a:ext cx="25146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каково «настоящее» среднее время?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6309360" cy="749808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3291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412 покупок на 8 000 визитов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200400"/>
            <a:ext cx="25146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какова конверсия и насколько мы уверены?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114800"/>
            <a:ext cx="6309360" cy="749808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3291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9 случаев на 600 жителей против 1 300 на 100 000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114800"/>
            <a:ext cx="25146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где опаснее?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1280160"/>
            <a:ext cx="4416552" cy="361188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463039"/>
            <a:ext cx="3959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МОДЕЛЬ ВЫБОРКИ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847088"/>
            <a:ext cx="395935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X₁, …, Xₙ — независимые одинаково распределённые (н. о. р., i.i.d.) с неизвестным F.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Статистика — любая функция выборки: среднее, доля, медиана, максимум.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Повторим сбор данных — получим другое среднее. Статистика — случайная величина.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25780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ЗБЧ: к чему сходится среднее. ЦПТ: как распределена ошибка при конечном 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Маршрут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3017520"/>
            <a:ext cx="10561320" cy="0"/>
          </a:xfrm>
          <a:prstGeom prst="line">
            <a:avLst/>
          </a:prstGeom>
          <a:ln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31520" y="2926080"/>
            <a:ext cx="182880" cy="18288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39" y="22402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Arial"/>
              </a:rPr>
              <a:t>Сходимость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9" y="32461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три смысла</a:t>
            </a:r>
          </a:p>
        </p:txBody>
      </p:sp>
      <p:sp>
        <p:nvSpPr>
          <p:cNvPr id="8" name="Oval 7"/>
          <p:cNvSpPr/>
          <p:nvPr/>
        </p:nvSpPr>
        <p:spPr>
          <a:xfrm>
            <a:off x="2240280" y="2926080"/>
            <a:ext cx="182880" cy="18288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22402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Arial"/>
              </a:rPr>
              <a:t>ЗБЧ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2461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частота → вероятность</a:t>
            </a:r>
          </a:p>
        </p:txBody>
      </p:sp>
      <p:sp>
        <p:nvSpPr>
          <p:cNvPr id="11" name="Oval 10"/>
          <p:cNvSpPr/>
          <p:nvPr/>
        </p:nvSpPr>
        <p:spPr>
          <a:xfrm>
            <a:off x="3749040" y="2926080"/>
            <a:ext cx="182880" cy="18288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2402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Arial"/>
              </a:rPr>
              <a:t>Монте-Карло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2461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ожидание = среднее</a:t>
            </a:r>
          </a:p>
        </p:txBody>
      </p:sp>
      <p:sp>
        <p:nvSpPr>
          <p:cNvPr id="14" name="Oval 13"/>
          <p:cNvSpPr/>
          <p:nvPr/>
        </p:nvSpPr>
        <p:spPr>
          <a:xfrm>
            <a:off x="5257800" y="2926080"/>
            <a:ext cx="182880" cy="18288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2402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Arial"/>
              </a:rPr>
              <a:t>Выборочные хар-ки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2461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оценки и SE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2926080"/>
            <a:ext cx="182880" cy="18288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2402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Arial"/>
              </a:rPr>
              <a:t>ЦПТ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461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почему нормальное</a:t>
            </a:r>
          </a:p>
        </p:txBody>
      </p:sp>
      <p:sp>
        <p:nvSpPr>
          <p:cNvPr id="20" name="Oval 19"/>
          <p:cNvSpPr/>
          <p:nvPr/>
        </p:nvSpPr>
        <p:spPr>
          <a:xfrm>
            <a:off x="8275320" y="2926080"/>
            <a:ext cx="182880" cy="18288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22402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Arial"/>
              </a:rPr>
              <a:t>Муавр — Лаплас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2461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биномиальное ≈ N</a:t>
            </a:r>
          </a:p>
        </p:txBody>
      </p:sp>
      <p:sp>
        <p:nvSpPr>
          <p:cNvPr id="23" name="Oval 22"/>
          <p:cNvSpPr/>
          <p:nvPr/>
        </p:nvSpPr>
        <p:spPr>
          <a:xfrm>
            <a:off x="9784080" y="2926080"/>
            <a:ext cx="182880" cy="18288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2402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Arial"/>
              </a:rPr>
              <a:t>Размер выборки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2461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интервалы, n</a:t>
            </a:r>
          </a:p>
        </p:txBody>
      </p:sp>
      <p:sp>
        <p:nvSpPr>
          <p:cNvPr id="26" name="Oval 25"/>
          <p:cNvSpPr/>
          <p:nvPr/>
        </p:nvSpPr>
        <p:spPr>
          <a:xfrm>
            <a:off x="11292840" y="292608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52760" y="22402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Arial"/>
              </a:rPr>
              <a:t>Ловушки и 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32461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зависимость, хвосты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846320"/>
            <a:ext cx="11094415" cy="5029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84632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На семинаре всё проверяем симуляциями, а в ДЗ — эксперимент с собственными данными.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rgbClr val="1F2937"/>
                </a:solidFill>
                <a:latin typeface="Arial"/>
              </a:rPr>
              <a:t>Сходимость и ЗБЧ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947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6B7280"/>
                </a:solidFill>
                <a:latin typeface="Arial"/>
              </a:rPr>
              <a:t>Почему частота превращается в вероятность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Что значит «сходится» для случайных величин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3566160" cy="274320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Arial"/>
              </a:rPr>
              <a:t>По вероятности</a:t>
            </a:r>
          </a:p>
        </p:txBody>
      </p:sp>
      <p:pic>
        <p:nvPicPr>
          <p:cNvPr id="6" name="Picture 5" descr="f_2b8ad41488ae36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57400"/>
            <a:ext cx="2578608" cy="423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7889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большие отклонения всё менее вероятны (слабый ЗБЧ)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325880"/>
            <a:ext cx="3566160" cy="27432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1508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Arial"/>
              </a:rPr>
              <a:t>Почти наверное</a:t>
            </a:r>
          </a:p>
        </p:txBody>
      </p:sp>
      <p:pic>
        <p:nvPicPr>
          <p:cNvPr id="10" name="Picture 9" descr="f_c97e9f6b7d738b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79" y="2057400"/>
            <a:ext cx="2365248" cy="4236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26279" y="27889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почти каждая траектория сходится (усиленный ЗБЧ)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325880"/>
            <a:ext cx="3566160" cy="274320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508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Arial"/>
              </a:rPr>
              <a:t>По распределению</a:t>
            </a:r>
          </a:p>
        </p:txBody>
      </p:sp>
      <p:pic>
        <p:nvPicPr>
          <p:cNvPr id="14" name="Picture 13" descr="f_705bb2991970967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19" y="2057400"/>
            <a:ext cx="2081784" cy="4297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75319" y="27889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сходятся вероятности, а не значения (ЦПТ)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почти наверное ⇒ по вероятности ⇒ по распределению; обратное в общем случае неверно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ЗБЧ в форме Чебышёва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Arial"/>
              </a:rPr>
              <a:t>X₁, X₂, … некоррелированы, EXₖ = μ, DXₖ = σ² &lt; ∞</a:t>
            </a:r>
          </a:p>
        </p:txBody>
      </p:sp>
      <p:pic>
        <p:nvPicPr>
          <p:cNvPr id="5" name="Picture 4" descr="f_ebd9ec33067d62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126736" cy="673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5943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Доказательство в одну строку: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E X̄ = μ, D X̄ = σ²/n — и неравенство Чебышёва для X̄.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Нужны только две вещи: дисперсия среднего σ²/n и её стремление к нулю.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280160"/>
            <a:ext cx="4690872" cy="173736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1463039"/>
            <a:ext cx="4233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Из лекции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847088"/>
            <a:ext cx="423367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Неравенство Чебышёва: P(|Y − EY| ≥ ε) ≤ DY/ε²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Закон √n: σ(X̄) = σ/√n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3200400"/>
            <a:ext cx="4690872" cy="17373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3383280"/>
            <a:ext cx="4233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Обобщение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3767328"/>
            <a:ext cx="423367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Распределения могут быть разными: достаточно DXₖ ≤ C и одинаковых средних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ЗБЧ Бернулли: частота → вероятность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  <p:pic>
        <p:nvPicPr>
          <p:cNvPr id="4" name="Picture 3" descr="05-lln-bernoul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675120" cy="3603812"/>
          </a:xfrm>
          <a:prstGeom prst="rect">
            <a:avLst/>
          </a:prstGeom>
        </p:spPr>
      </p:pic>
      <p:pic>
        <p:nvPicPr>
          <p:cNvPr id="5" name="Picture 4" descr="f_72bf31b6a04785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25880"/>
            <a:ext cx="3675887" cy="624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52360" y="2331720"/>
            <a:ext cx="4187952" cy="246888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2514600"/>
            <a:ext cx="3730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Частотный смысл вероятности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898648"/>
            <a:ext cx="3730752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Sₙ = сумма индикаторов успеха, D Iₖ = p(1 − p) ≤ 1/4.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Вероятность — то, к чему стремится частота в длинной серии независимых повторений (Бернулли, 1713).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25780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Голубой коридор p ± 2·√(p(1−p)/n) сужается как 1/√n — его ширину объяснит ЦПТ.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Дисперсия не обязательна: Хинчин и Колмогоров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394960" cy="146304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3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ЗБЧ Хинчина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н. о. р. и E|X| &lt; ∞  ⇒  X̄ₙ → μ по вероятности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26080"/>
            <a:ext cx="5394960" cy="146304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Усиленный ЗБЧ (Колмогоров)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93008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те же условия  ⇒  X̄ₙ → μ почти наверное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3640" y="1280160"/>
          <a:ext cx="5376671" cy="22677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00200"/>
                <a:gridCol w="1691640"/>
                <a:gridCol w="2084831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Условие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Зачем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Если нарушить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EX существует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есть к чему сходиться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Коши: среднее не стабилизируется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независимость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D X̄ ∝ 1/n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сходится медленнее или не туда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одинаковое распр.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одно μ у всех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сходится к среднему ожиданий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4846320"/>
            <a:ext cx="11094415" cy="5029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84632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Среднее сходится к ожиданию всегда, когда ожидание существует. При DX = ∞ — медленно и рывками.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Метод Монте-Карло: ожидание = среднее симуляций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  <p:pic>
        <p:nvPicPr>
          <p:cNvPr id="4" name="Picture 3" descr="05-monte-car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949440" cy="3324061"/>
          </a:xfrm>
          <a:prstGeom prst="rect">
            <a:avLst/>
          </a:prstGeom>
        </p:spPr>
      </p:pic>
      <p:pic>
        <p:nvPicPr>
          <p:cNvPr id="5" name="Picture 4" descr="f_619aed2eb1cd02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1325880"/>
            <a:ext cx="3916375" cy="104692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26679" y="2606040"/>
            <a:ext cx="3913632" cy="237744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788920"/>
            <a:ext cx="3456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Ошибка ∝ 1/√n всегда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3172968"/>
            <a:ext cx="3456432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В 1D трапеции точнее. В 100D — единственный рабочий способ.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Байесовские методы, RL, физика, финансы.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25780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π ≈ 4 · доля точек в четверти круга; 10⁶ точек дают π ≈ 3,1416 ± 0,0032.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Чего ЗБЧ не говорит: ошибка игрока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  <p:pic>
        <p:nvPicPr>
          <p:cNvPr id="4" name="Picture 3" descr="05-gamb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949440" cy="304155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726679" y="1280160"/>
            <a:ext cx="3913632" cy="1965960"/>
          </a:xfrm>
          <a:prstGeom prst="rect">
            <a:avLst/>
          </a:prstGeom>
          <a:solidFill>
            <a:srgbClr val="FDE9D3"/>
          </a:solidFill>
          <a:ln w="6350">
            <a:solidFill>
              <a:srgbClr val="FDE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463039"/>
            <a:ext cx="3456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Монета не помнит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847088"/>
            <a:ext cx="345643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После 10 решек P(орёл) = 1/2. Отклонения не компенсируются, а разбавляются.</a:t>
            </a:r>
          </a:p>
        </p:txBody>
      </p:sp>
      <p:pic>
        <p:nvPicPr>
          <p:cNvPr id="8" name="Picture 7" descr="f_6a8a499cf4ba3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3474720"/>
            <a:ext cx="3913632" cy="45975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4343400"/>
            <a:ext cx="11094415" cy="114300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52628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Рулетка: ставка на красное, EX = −1/37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10328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1 000 ставок: −27 ± 32 ₽, игрок в плюсе с вероятностью ≈ 19 %.   10⁶ ставок у казино: +27 000 ± 1 000 ₽, убыток практически невозможен.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rgbClr val="1F2937"/>
                </a:solidFill>
                <a:latin typeface="Arial"/>
              </a:rPr>
              <a:t>Выборочные характеристики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947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6B7280"/>
                </a:solidFill>
                <a:latin typeface="Arial"/>
              </a:rPr>
              <a:t>Каждая статистика — случайная величина со своим распределением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Выборочное распределение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  <p:pic>
        <p:nvPicPr>
          <p:cNvPr id="4" name="Picture 3" descr="05-sampling-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8640765" cy="2834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206240"/>
            <a:ext cx="3566160" cy="137160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891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Несмещённость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73168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ET = θ: в среднем не ошибаемся в одну сторону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4206240"/>
            <a:ext cx="3566160" cy="13716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43891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Состоятельность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4773168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T → θ при n → ∞: это ЗБЧ для статистики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4206240"/>
            <a:ext cx="3593592" cy="137160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4389120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Стандартная ошибка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4773168"/>
            <a:ext cx="31363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SE = √DT — главная мера точности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Среднее, доля, дисперсия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  <p:pic>
        <p:nvPicPr>
          <p:cNvPr id="4" name="Picture 3" descr="f_cad0b77559c0ab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4575048" cy="621792"/>
          </a:xfrm>
          <a:prstGeom prst="rect">
            <a:avLst/>
          </a:prstGeom>
        </p:spPr>
      </p:pic>
      <p:pic>
        <p:nvPicPr>
          <p:cNvPr id="5" name="Picture 4" descr="f_168964ebb8c161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5312664" cy="734568"/>
          </a:xfrm>
          <a:prstGeom prst="rect">
            <a:avLst/>
          </a:prstGeom>
        </p:spPr>
      </p:pic>
      <p:pic>
        <p:nvPicPr>
          <p:cNvPr id="6" name="Picture 5" descr="f_be875b4a4a1c52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17520"/>
            <a:ext cx="6035040" cy="9980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343400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На практике σ и p заменяют оценками: SE ≈ s/√n. По ЗБЧ это близко к истине.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1280160"/>
            <a:ext cx="4690872" cy="2103120"/>
          </a:xfrm>
          <a:prstGeom prst="rect">
            <a:avLst/>
          </a:prstGeom>
          <a:solidFill>
            <a:srgbClr val="FDE9D3"/>
          </a:solidFill>
          <a:ln w="6350">
            <a:solidFill>
              <a:srgbClr val="FDE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463039"/>
            <a:ext cx="4233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Почему n − 1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47088"/>
            <a:ext cx="4233672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E Σ(Xₖ − X̄)² = nσ² − n·σ²/n = (n − 1)σ²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X̄ подогнано под выборку и ближе к точкам, чем μ.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3566160"/>
            <a:ext cx="4690872" cy="164592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3749039"/>
            <a:ext cx="4233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Разброс самой s²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4133087"/>
            <a:ext cx="423367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D s² ≈ (μ₄ − σ⁴)/n: при тяжёлых хвостах один выброс меняет s² в разы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Эмпирическая функция распределения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  <p:pic>
        <p:nvPicPr>
          <p:cNvPr id="4" name="Picture 3" descr="05-ec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8732111" cy="2834640"/>
          </a:xfrm>
          <a:prstGeom prst="rect">
            <a:avLst/>
          </a:prstGeom>
        </p:spPr>
      </p:pic>
      <p:pic>
        <p:nvPicPr>
          <p:cNvPr id="5" name="Picture 4" descr="f_dfe0455ee01094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97680"/>
            <a:ext cx="6766560" cy="52316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89520" y="4160520"/>
            <a:ext cx="4050791" cy="146304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4343400"/>
            <a:ext cx="35935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Гливенко — Кантелли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4727448"/>
            <a:ext cx="359359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По большой выборке восстанавливается всё распределение, а значит, и квантили.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Как ведут себя выборочные характеристики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630936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1645920"/>
                <a:gridCol w="29260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Статистика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Оценивает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SE при большом n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x̄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μ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σ/√n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p̂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√(p(1−p)/n)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s² (ddof=1)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σ²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√((μ₄ − σ⁴)/n)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медиана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медиана m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1/(2f(m)√n)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F̂ₙ(x)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F(x)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√(F(1−F)/n)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максимум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растёт с n, не сходится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178040" y="1280160"/>
            <a:ext cx="4462272" cy="1874519"/>
          </a:xfrm>
          <a:prstGeom prst="rect">
            <a:avLst/>
          </a:prstGeom>
          <a:solidFill>
            <a:srgbClr val="FDE9D3"/>
          </a:solidFill>
          <a:ln w="6350">
            <a:solidFill>
              <a:srgbClr val="FDE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463039"/>
            <a:ext cx="4005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Медиана или среднее?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47088"/>
            <a:ext cx="4005072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Нормальные данные: D(медианы) ≈ 1,57·σ²/n — среднее эффективнее.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Тяжёлые хвосты: медиана устойчива, среднее скачет.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78040" y="3337560"/>
            <a:ext cx="4462272" cy="169164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3520440"/>
            <a:ext cx="4005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Общий закон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3904487"/>
            <a:ext cx="40050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Почти все «гладкие» статистики ведут себя как средние: точность ∝ √n, и к ним применима ЦПТ.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rgbClr val="1F2937"/>
                </a:solidFill>
                <a:latin typeface="Arial"/>
              </a:rPr>
              <a:t>Центральная предельная теорема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947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6B7280"/>
                </a:solidFill>
                <a:latin typeface="Arial"/>
              </a:rPr>
              <a:t>Сумма многих независимых слагаемых почти нормальна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Центральная предельная теорема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Arial"/>
              </a:rPr>
              <a:t>X₁, X₂, … н. о. р., EXₖ = μ, 0 &lt; DXₖ = σ² &lt; ∞</a:t>
            </a:r>
          </a:p>
        </p:txBody>
      </p:sp>
      <p:pic>
        <p:nvPicPr>
          <p:cNvPr id="5" name="Picture 4" descr="f_60aaa7f576d5bc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4410456" cy="682752"/>
          </a:xfrm>
          <a:prstGeom prst="rect">
            <a:avLst/>
          </a:prstGeom>
        </p:spPr>
      </p:pic>
      <p:pic>
        <p:nvPicPr>
          <p:cNvPr id="6" name="Picture 5" descr="f_26a73b5a2a8c15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0"/>
            <a:ext cx="6492240" cy="488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2336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Теорема Линдеберга — Леви. Значок ≈ читается «приближённо распределено как».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280160"/>
            <a:ext cx="4325112" cy="356616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463039"/>
            <a:ext cx="3867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Что удивительно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847088"/>
            <a:ext cx="3867912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О слагаемых известны только μ и σ. Они могут быть дискретными, скошенными, двугорбыми.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Сумма всё равно почти нормальна: остальная информация о форме «забывается».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ЦПТ на картинке: разные слагаемые — один предел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  <p:pic>
        <p:nvPicPr>
          <p:cNvPr id="4" name="Picture 3" descr="05-clt-sh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223760" cy="41012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001000" y="1280160"/>
            <a:ext cx="3639312" cy="393192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463039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Скорость разная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47088"/>
            <a:ext cx="3182112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Равномерное: нормальная форма уже при n = 5.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Показательное: нужно n ≈ 30.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Бернулли p = 0,1: при n = 30 ещё видны асимметрия и дискретность.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Почему именно нормальное распределение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  <p:pic>
        <p:nvPicPr>
          <p:cNvPr id="4" name="Picture 3" descr="f_f5bebe24fff98b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852160" cy="5577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514600"/>
            <a:ext cx="5852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Характеристическая функция суммы = произведение. От слагаемых в пределе остаются только два момента: старшие члены порядка n^(−3/2) исчезают.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Нормальное распределение устойчиво: N + N = N. Это «неподвижная точка» операции «сложить и стандартизовать».</a:t>
            </a:r>
          </a:p>
        </p:txBody>
      </p:sp>
      <p:pic>
        <p:nvPicPr>
          <p:cNvPr id="6" name="Picture 5" descr="05-galt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188720"/>
            <a:ext cx="5056632" cy="23286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25780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Рост, ошибка измерения, шум датчика — суммы многих мелких независимых влияний (ЦПТ Ляпунова).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Разные слагаемые: теорема Ляпунова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  <p:pic>
        <p:nvPicPr>
          <p:cNvPr id="4" name="Picture 3" descr="f_2cdd7c0ab58669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1094415" cy="107403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2560320"/>
            <a:ext cx="5394960" cy="219456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Смысл условия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27248"/>
            <a:ext cx="49377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Вклад каждого слагаемого в общую дисперсию пренебрежимо мал.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Если одно слагаемое доминирует, сумма похожа на него, а не на нормальное.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2560320"/>
            <a:ext cx="5394960" cy="21945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7432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Пример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3127248"/>
            <a:ext cx="49377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Время ответа = сеть + очередь + БД + сериализация + …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Много сопоставимых частей → почти нормально. Одна доминирующая медленная БД → форма как у неё.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Теорема Муавра — Лапласа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  <p:pic>
        <p:nvPicPr>
          <p:cNvPr id="4" name="Picture 3" descr="f_6db6f73298e42b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7979664" cy="777240"/>
          </a:xfrm>
          <a:prstGeom prst="rect">
            <a:avLst/>
          </a:prstGeom>
        </p:spPr>
      </p:pic>
      <p:pic>
        <p:nvPicPr>
          <p:cNvPr id="5" name="Picture 4" descr="05-de-moiv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31720"/>
            <a:ext cx="5852160" cy="314861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75120" y="2377440"/>
            <a:ext cx="4965192" cy="1417320"/>
          </a:xfrm>
          <a:prstGeom prst="rect">
            <a:avLst/>
          </a:prstGeom>
          <a:solidFill>
            <a:srgbClr val="FDE9D3"/>
          </a:solidFill>
          <a:ln w="6350">
            <a:solidFill>
              <a:srgbClr val="FDE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256032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Поправка на непрерывность ±0,5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944368"/>
            <a:ext cx="450799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Столбик значения k занимает отрезок от k − 0,5 до k + 0,5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3977639"/>
            <a:ext cx="4965192" cy="178308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416052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Локальная теорема и Гмурман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4544568"/>
            <a:ext cx="450799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P(Sₙ = k) ≈ φ(x)/√(np(1−p)).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У Гмурмана через Φ₀(x) = Φ(x) − ½; в Python stats.norm.cdf.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Муавр — Лаплас в цифрах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1672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959352"/>
                <a:gridCol w="1828800"/>
                <a:gridCol w="1828800"/>
                <a:gridCol w="164592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Задача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ЦПТ без поправки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ЦПТ с поправкой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Пуассон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Точно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1000 монет: P(480 ≤ S ≤ 520)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0,794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0,8052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0,80523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Брак 2 %, 400 шт.: P(S ≥ 12)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0,077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0,106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0,112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0,110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100 кубиков: P(S ≥ 380)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0,040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0,0421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0,0420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3794760"/>
            <a:ext cx="5394960" cy="150876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9776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Правило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61688"/>
            <a:ext cx="493776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Нормальное приближение хорошо при np(1 − p) ≳ 10. При малом p точнее Пуассон.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3794760"/>
            <a:ext cx="5394960" cy="15087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39776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Сумма времени: 100 × Exp(50 мс)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4361688"/>
            <a:ext cx="493776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P(S &gt; 6 с): ЦПТ 0,023, точно (гамма) 0,028 — хвост скошенных величин занижается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Правило «1,96 сигмы» для среднего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  <p:pic>
        <p:nvPicPr>
          <p:cNvPr id="4" name="Picture 3" descr="f_035e22b4cc8f6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148072" cy="621792"/>
          </a:xfrm>
          <a:prstGeom prst="rect">
            <a:avLst/>
          </a:prstGeom>
        </p:spPr>
      </p:pic>
      <p:pic>
        <p:nvPicPr>
          <p:cNvPr id="5" name="Picture 4" descr="f_314f3709bd3048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77440"/>
            <a:ext cx="5148072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474720"/>
            <a:ext cx="6035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1,96 и 2,58 — квантили z₀,₉₇₅ и z₀,₉₉₅: stats.norm.ppf(0.975)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280160"/>
            <a:ext cx="4690872" cy="16002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1463039"/>
            <a:ext cx="4233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Чебышёв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847088"/>
            <a:ext cx="42336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вне ±2σ — до 25 % для любого распределения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3063240"/>
            <a:ext cx="4690872" cy="160020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3246120"/>
            <a:ext cx="4233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ЦПТ для среднего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3630168"/>
            <a:ext cx="42336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вне ±2σ/√n — около 5 %: оценки во много раз точнее, но приближённые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Насколько большим должно быть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  <p:pic>
        <p:nvPicPr>
          <p:cNvPr id="4" name="Picture 3" descr="05-berry-ess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035040" cy="3181593"/>
          </a:xfrm>
          <a:prstGeom prst="rect">
            <a:avLst/>
          </a:prstGeom>
        </p:spPr>
      </p:pic>
      <p:pic>
        <p:nvPicPr>
          <p:cNvPr id="5" name="Picture 4" descr="f_3f44e88ed6ebc6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325880"/>
            <a:ext cx="4830775" cy="674774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12280" y="2286000"/>
          <a:ext cx="4828032" cy="24688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16352"/>
                <a:gridCol w="20116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Слагаемые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Хватит n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симметричные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5–10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показательное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30–100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Бернулли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np(1−p) ≥ 10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выручка, размеры файлов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сотни–тысячи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DX = ∞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никогда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FDE9D3"/>
          </a:solidFill>
          <a:ln w="6350">
            <a:solidFill>
              <a:srgbClr val="FDE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25780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Правило «n ≥ 30» грубое: центр приближается лучше хвостов, редкие события ЦПТ не оценивает.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Проверка нормальности: QQ-график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  <p:pic>
        <p:nvPicPr>
          <p:cNvPr id="4" name="Picture 3" descr="05-q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006225" cy="34747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846320"/>
            <a:ext cx="11094415" cy="5029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84632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Точки на прямой ⇔ распределение близко к нормальному. Изгиб вверх справа — тяжёлый правый хвост.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rgbClr val="1F2937"/>
                </a:solidFill>
                <a:latin typeface="Arial"/>
              </a:rPr>
              <a:t>Влияние размера выборки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947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6B7280"/>
                </a:solidFill>
                <a:latin typeface="Arial"/>
              </a:rPr>
              <a:t>Интервалы, объём выборки и закон малых чисел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Закон √n и цена точности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  <p:pic>
        <p:nvPicPr>
          <p:cNvPr id="4" name="Picture 3" descr="f_f35063d68e91e2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557528" cy="6217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2377440"/>
            <a:ext cx="5394960" cy="237744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Следствия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44368"/>
            <a:ext cx="49377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Погрешность вдвое меньше → данных вчетверо больше.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В 10 раз меньше → в 100 раз больше.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Точность зависит от абсолютного n, а не от доли совокупности.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280160"/>
            <a:ext cx="5394960" cy="347472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46303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Опрос 1 000 человек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847088"/>
            <a:ext cx="4937760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одинаково точен для города на 100 000 жителей и для страны на 140 млн — если выборка случайная.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Погрешность ±3 п. п. в новостях — это 1,96·√(¼/1000) ≈ 0,031.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Доверительный интервал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28</a:t>
            </a:r>
          </a:p>
        </p:txBody>
      </p:sp>
      <p:pic>
        <p:nvPicPr>
          <p:cNvPr id="4" name="Picture 3" descr="f_f63df82c85d0d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327648" cy="804672"/>
          </a:xfrm>
          <a:prstGeom prst="rect">
            <a:avLst/>
          </a:prstGeom>
        </p:spPr>
      </p:pic>
      <p:pic>
        <p:nvPicPr>
          <p:cNvPr id="5" name="Picture 4" descr="05-ci-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0"/>
            <a:ext cx="5760720" cy="31526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0" y="2331720"/>
            <a:ext cx="5056632" cy="160020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514600"/>
            <a:ext cx="4599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Как понимать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898648"/>
            <a:ext cx="45994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Случаен интервал, а не μ: ≈95 % интервалов из повторных выборок накрывают μ.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4114800"/>
            <a:ext cx="5056632" cy="16002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4297680"/>
            <a:ext cx="4599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Конверсия 412 / 8 000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4681728"/>
            <a:ext cx="45994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p̂ = 5,15 %, SE = 0,25 п. п., интервал 95 %: от 4,67 % до 5,63 %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Сколько данных нужно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29</a:t>
            </a:r>
          </a:p>
        </p:txBody>
      </p:sp>
      <p:pic>
        <p:nvPicPr>
          <p:cNvPr id="4" name="Picture 3" descr="f_78ec4b028b37f8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989064" cy="63703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423160"/>
          <a:ext cx="512064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155448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Погрешность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n по ЦПТ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Arial"/>
                        </a:rPr>
                        <a:t>n по Чебышёву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±5 п. п.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2 000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±3 п. п.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1 068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5 556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±1 п. п.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9 604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50 000</a:t>
                      </a:r>
                    </a:p>
                  </a:txBody>
                  <a:tcPr marL="73152" marR="73152" marT="27432" marB="27432" anchor="ctr">
                    <a:lnB w="6350">
                      <a:solidFill>
                        <a:srgbClr val="D1D5DB"/>
                      </a:solidFill>
                    </a:lnB>
                    <a:lnT w="6350">
                      <a:solidFill>
                        <a:srgbClr val="D1D5DB"/>
                      </a:solidFill>
                    </a:lnT>
                    <a:lnR w="6350">
                      <a:solidFill>
                        <a:srgbClr val="D1D5DB"/>
                      </a:solidFill>
                    </a:lnR>
                    <a:lnL w="6350">
                      <a:solidFill>
                        <a:srgbClr val="D1D5DB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05-sample-s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286000"/>
            <a:ext cx="5605272" cy="28791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A/B: конверсия 5 % → 5,5 % — около 15 000 на группу только для точности, ~30 000 с учётом мощности.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«Самая опасная формула» и закон малых чисел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30</a:t>
            </a:r>
          </a:p>
        </p:txBody>
      </p:sp>
      <p:pic>
        <p:nvPicPr>
          <p:cNvPr id="4" name="Picture 3" descr="05-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309360" cy="30383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086600" y="1280160"/>
            <a:ext cx="4553712" cy="2011680"/>
          </a:xfrm>
          <a:prstGeom prst="rect">
            <a:avLst/>
          </a:prstGeom>
          <a:solidFill>
            <a:srgbClr val="FDE9D3"/>
          </a:solidFill>
          <a:ln w="6350">
            <a:solidFill>
              <a:srgbClr val="FDE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463039"/>
            <a:ext cx="4096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Маленькие школы (Уэйнер, 2007)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847088"/>
            <a:ext cx="4096512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Среди лучших школ много маленьких → 1,7 млрд $ на разделение школ. Среди худших их тоже много.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86600" y="3474720"/>
            <a:ext cx="4553712" cy="173736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3657600"/>
            <a:ext cx="4096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Как не попасться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041648"/>
            <a:ext cx="409651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Сначала спросите, по скольким наблюдениям посчитано. Сравнивайте z-оценки, смотрите на воронку.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4406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У всех 400 районов одна и та же вероятность 1,2 %. Все «рекордсмены» — маленькие.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rgbClr val="1F2937"/>
                </a:solidFill>
                <a:latin typeface="Arial"/>
              </a:rPr>
              <a:t>Когда ЗБЧ и ЦПТ подводят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947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6B7280"/>
                </a:solidFill>
                <a:latin typeface="Arial"/>
              </a:rPr>
              <a:t>Зависимость, тяжёлые хвосты, смещённые выборки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Зависимые наблюдения: данные стоят меньше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32</a:t>
            </a:r>
          </a:p>
        </p:txBody>
      </p:sp>
      <p:pic>
        <p:nvPicPr>
          <p:cNvPr id="4" name="Picture 3" descr="05-depen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766560" cy="2986620"/>
          </a:xfrm>
          <a:prstGeom prst="rect">
            <a:avLst/>
          </a:prstGeom>
        </p:spPr>
      </p:pic>
      <p:pic>
        <p:nvPicPr>
          <p:cNvPr id="5" name="Picture 4" descr="f_5566577be55bf0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325880"/>
            <a:ext cx="2127504" cy="6370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89520" y="2286000"/>
            <a:ext cx="4050791" cy="2651760"/>
          </a:xfrm>
          <a:prstGeom prst="rect">
            <a:avLst/>
          </a:prstGeom>
          <a:solidFill>
            <a:srgbClr val="FDE9D3"/>
          </a:solidFill>
          <a:ln w="6350">
            <a:solidFill>
              <a:srgbClr val="FDE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2468880"/>
            <a:ext cx="35935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A/B-тест по просмотрам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852928"/>
            <a:ext cx="3593591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CTR = клики / просмотры. Просмотры одного пользователя зависимы.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SE по просмотрам занижена в разы → «находим» несуществующие эффекты. Считайте по пользователям.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25780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Временные ряды, сессии пользователя, ученики одного класса: s/√n недооценивает погрешность.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Тяжёлые хвосты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33</a:t>
            </a:r>
          </a:p>
        </p:txBody>
      </p:sp>
      <p:pic>
        <p:nvPicPr>
          <p:cNvPr id="4" name="Picture 3" descr="05-heavy-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949440" cy="313406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726679" y="1280160"/>
            <a:ext cx="3913632" cy="16002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463039"/>
            <a:ext cx="3456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EX = ∞ (Коши)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847088"/>
            <a:ext cx="34564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среднее не сходится вообще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3017520"/>
            <a:ext cx="3913632" cy="1920240"/>
          </a:xfrm>
          <a:prstGeom prst="rect">
            <a:avLst/>
          </a:prstGeom>
          <a:solidFill>
            <a:srgbClr val="FDE9D3"/>
          </a:solidFill>
          <a:ln w="6350">
            <a:solidFill>
              <a:srgbClr val="FDE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3200400"/>
            <a:ext cx="3456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EX &lt; ∞, DX = ∞ (Парето α ≤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584448"/>
            <a:ext cx="345643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ЗБЧ есть, но медленный; ЦПТ нет — средние остаются скошенными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5780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Доходы, размеры файлов, подписчики, страховые убытки: смотрите медиану и квантили, логарифмируйте.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Не средние и смещённые выборки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34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394960" cy="21945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3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Максимум — не сумма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49377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Максимум n показательных растёт как ln n и сходится к распределению Гумбеля.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Пиковая нагрузка, «наводнение раз в 100 лет» — теория экстремальных значений.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1280160"/>
            <a:ext cx="5394960" cy="2194560"/>
          </a:xfrm>
          <a:prstGeom prst="rect">
            <a:avLst/>
          </a:prstGeom>
          <a:solidFill>
            <a:srgbClr val="FDE9D3"/>
          </a:solidFill>
          <a:ln w="6350">
            <a:solidFill>
              <a:srgbClr val="FDE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46303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ЗБЧ сходится к «не тому»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847088"/>
            <a:ext cx="49377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Если выборка смещена, большое n даёт узкий интервал вокруг неверного ответа.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03320"/>
            <a:ext cx="11094415" cy="146304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Literary Digest, 1936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7024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2,4 млн анкет читателей: Лэндон выиграет с отрывом 14 п. п. Итог: Рузвельт +24 п. п. Гэллап по случайной выборке ~50 000 человек угадал.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rgbClr val="1F2937"/>
                </a:solidFill>
                <a:latin typeface="Arial"/>
              </a:rPr>
              <a:t>ЗБЧ и ЦПТ в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947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6B7280"/>
                </a:solidFill>
                <a:latin typeface="Arial"/>
              </a:rPr>
              <a:t>Где эти теоремы работают каждый день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Где это встречается в машинном обучении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36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486400" cy="123444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3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Эмпирический риск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средняя ошибка на обучении ≈ ожидаемая ошибка; тест из 1 000 объектов — точность ±1–2 п. п.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53912" y="1280160"/>
            <a:ext cx="5486400" cy="123444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6303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SGD и мини-батчи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184708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градиент по батчу — выборочное среднее: шум ∝ 1/√B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5486400" cy="123444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Бутстреп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1868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симуляция выборочного распределения: F заменили на F̂ₙ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3912" y="2651760"/>
            <a:ext cx="5486400" cy="123444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834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Ансамбли, бэггинг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321868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среднее слабо коррелированных моделей — меньше дисперсия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5486400" cy="123444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06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Монте-Карло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9028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ELBO в VAE, награда в RL, байесовские апостериорные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3912" y="4023360"/>
            <a:ext cx="5486400" cy="123444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4206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Инициализация весов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59028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Arial"/>
              </a:rPr>
              <a:t>предактивация Σ wᵢxᵢ почти нормальна → схемы Ксавье и Хе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Сквозной пример: какая модель лучше?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F2937"/>
                </a:solidFill>
                <a:latin typeface="Arial"/>
              </a:rPr>
              <a:t>Тест из 2 000 объектов: модель A — точность 91,2 %, модель B — 90,6 %.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66160" cy="228600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SE точности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31089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√(0,91·0,09/2000) ≈ 0,64 п. п.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Интервал A: 91,2 ± 1,25 %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920240"/>
            <a:ext cx="3566160" cy="2286000"/>
          </a:xfrm>
          <a:prstGeom prst="rect">
            <a:avLst/>
          </a:prstGeom>
          <a:solidFill>
            <a:srgbClr val="FDE9D3"/>
          </a:solidFill>
          <a:ln w="6350">
            <a:solidFill>
              <a:srgbClr val="FDE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21031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Разница 0,6 п. п.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487168"/>
            <a:ext cx="31089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меньше одной SE: по такому тесту сказать, что A лучше, нельзя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1920240"/>
            <a:ext cx="3593592" cy="228600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2103120"/>
            <a:ext cx="31363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Что делать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487168"/>
            <a:ext cx="3136392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Arial"/>
              </a:rPr>
              <a:t>больше тестовых данных, парное сравнение на одних объектах, кросс-валидация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26280"/>
            <a:ext cx="11094415" cy="5029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52628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Arial"/>
              </a:rPr>
              <a:t>Любая метрика на конечной выборке — случайная величина. Сначала SE, потом выводы.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38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9728" cy="457200"/>
          </a:xfrm>
          <a:prstGeom prst="rect">
            <a:avLst/>
          </a:prstGeom>
          <a:solidFill>
            <a:srgbClr val="3B82F6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Статистика — случайная величина; её разброс — стандартная ошибка.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09728" cy="457200"/>
          </a:xfrm>
          <a:prstGeom prst="rect">
            <a:avLst/>
          </a:prstGeom>
          <a:solidFill>
            <a:srgbClr val="3B82F6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ЗБЧ: среднее → EX, частота → вероятность; основа Монте-Карло. Отклонения разбавляются, а не компенсируются.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97480"/>
            <a:ext cx="109728" cy="457200"/>
          </a:xfrm>
          <a:prstGeom prst="rect">
            <a:avLst/>
          </a:prstGeom>
          <a:solidFill>
            <a:srgbClr val="3B82F6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x̄, p̂, s², F̂ₙ — состоятельные оценки; SE ∝ 1/√n.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83280"/>
            <a:ext cx="109728" cy="457200"/>
          </a:xfrm>
          <a:prstGeom prst="rect">
            <a:avLst/>
          </a:prstGeom>
          <a:solidFill>
            <a:srgbClr val="3B82F6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832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ЦПТ: сумма многих независимых слагаемых ≈ N(nμ, nσ²); Муавр — Лаплас с поправкой ±0,5.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69080"/>
            <a:ext cx="109728" cy="457200"/>
          </a:xfrm>
          <a:prstGeom prst="rect">
            <a:avLst/>
          </a:prstGeom>
          <a:solidFill>
            <a:srgbClr val="3B82F6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Интервал x̄ ± 1,96·s/√n; объём n ≥ (zσ/ε)²; ±3 п. п. — около 1 000 человек.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54880"/>
            <a:ext cx="109728" cy="457200"/>
          </a:xfrm>
          <a:prstGeom prst="rect">
            <a:avLst/>
          </a:prstGeom>
          <a:solidFill>
            <a:srgbClr val="3B82F6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548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Малые выборки дают крайние значения; зависимость и тяжёлые хвосты ломают формулы.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Литература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Arial"/>
              </a:rPr>
              <a:t>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Гмурман В. Е. Теория вероятностей и математическая статистика — гл. 4, 9, 12, 15–16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Мёрфи К. П. Вероятностное машинное обучение: введение — разд. 2.8, 4.7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Дайзенрот М. П. и др. Математика для машинного обучения — разд. 6.4, 6.5, 8.2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Николенко С. и др. Глубокое обучение — SGD и мини-батчи, инициализация весов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Савелова Т. И. Метод Монте-Карло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Wainer H. The Most Dangerous Equation // American Scientist, 2007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Конспект с полными формулировками и доказательствами: 05_lln-clt-itmo.md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bability ITMO">
  <a:themeElements>
    <a:clrScheme name="Probability ITMO">
      <a:dk1>
        <a:srgbClr val="1F2937"/>
      </a:dk1>
      <a:lt1>
        <a:srgbClr val="FFFFFF"/>
      </a:lt1>
      <a:dk2>
        <a:srgbClr val="6B7280"/>
      </a:dk2>
      <a:lt2>
        <a:srgbClr val="F5F7FA"/>
      </a:lt2>
      <a:accent1>
        <a:srgbClr val="3B82F6"/>
      </a:accent1>
      <a:accent2>
        <a:srgbClr val="D6EEF8"/>
      </a:accent2>
      <a:accent3>
        <a:srgbClr val="F28C28"/>
      </a:accent3>
      <a:accent4>
        <a:srgbClr val="FDE9D3"/>
      </a:accent4>
      <a:accent5>
        <a:srgbClr val="E5E7EB"/>
      </a:accent5>
      <a:accent6>
        <a:srgbClr val="10B981"/>
      </a:accent6>
      <a:hlink>
        <a:srgbClr val="3B82F6"/>
      </a:hlink>
      <a:folHlink>
        <a:srgbClr val="6B7280"/>
      </a:folHlink>
    </a:clrScheme>
    <a:fontScheme name="Probability ITM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3. Случайные величины и распределения</dc:title>
  <dc:subject>PptxGenJS Presentation</dc:subject>
  <dc:creator>Курс «Теория вероятностей», ИТМО</dc:creator>
  <cp:lastModifiedBy>Курс «Теория вероятностей», ИТМО</cp:lastModifiedBy>
  <cp:revision>1</cp:revision>
  <dcterms:created xsi:type="dcterms:W3CDTF">2026-10-14T12:57:15Z</dcterms:created>
  <dcterms:modified xsi:type="dcterms:W3CDTF">2026-10-14T12:57:15Z</dcterms:modified>
</cp:coreProperties>
</file>