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6"/>
    <p:sldId id="291" r:id="rId5"/>
    <p:sldId id="292" r:id="rId4"/>
    <p:sldId id="293" r:id="rId3"/>
    <p:sldId id="294" r:id="rId2"/>
    <p:sldId id="295" r:id="rId46"/>
    <p:sldId id="296" r:id="rId47"/>
    <p:sldId id="297" r:id="rId48"/>
    <p:sldId id="298" r:id="rId49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ведение" id="{b5f105f5-528e-1bbc-1375-6bef619ea4c5}">
          <p14:sldIdLst>
            <p14:sldId id="256"/>
            <p14:sldId id="257"/>
            <p14:sldId id="258"/>
          </p14:sldIdLst>
        </p14:section>
        <p14:section name="Случайная величина" id="{54f787ba-b33d-ce33-8649-a3c6963b06cf}">
          <p14:sldIdLst>
            <p14:sldId id="259"/>
            <p14:sldId id="260"/>
            <p14:sldId id="261"/>
            <p14:sldId id="262"/>
          </p14:sldIdLst>
        </p14:section>
        <p14:section name="Дискретные величины" id="{8eebc759-f193-4ffa-8c70-18bf82f13175}">
          <p14:sldIdLst>
            <p14:sldId id="263"/>
            <p14:sldId id="264"/>
          </p14:sldIdLst>
        </p14:section>
        <p14:section name="Функция распределения" id="{78f22b51-6829-bbbf-64df-7f28e6491fc3}">
          <p14:sldIdLst>
            <p14:sldId id="265"/>
            <p14:sldId id="266"/>
            <p14:sldId id="267"/>
            <p14:sldId id="268"/>
          </p14:sldIdLst>
        </p14:section>
        <p14:section name="Непрерывные величины" id="{205b3bd2-6af9-d82b-76d3-7b4f9a3ff20d}">
          <p14:sldIdLst>
            <p14:sldId id="269"/>
            <p14:sldId id="270"/>
            <p14:sldId id="271"/>
            <p14:sldId id="272"/>
            <p14:sldId id="273"/>
          </p14:sldIdLst>
        </p14:section>
        <p14:section name="Квантили и данные" id="{e78002c4-cc46-ce93-55b7-50fbad578964}">
          <p14:sldIdLst>
            <p14:sldId id="274"/>
            <p14:sldId id="275"/>
            <p14:sldId id="276"/>
          </p14:sldIdLst>
        </p14:section>
        <p14:section name="Основные распределения" id="{be7bda4b-715d-71f3-97f4-292c16ec1c2b}">
          <p14:sldIdLst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  <p14:section name="Распределения в анализе данных" id="{712c89dc-8652-d2e2-ad9e-178474a6b279}">
          <p14:sldIdLst>
            <p14:sldId id="287"/>
            <p14:sldId id="288"/>
            <p14:sldId id="289"/>
            <p14:sldId id="290"/>
            <p14:sldId id="291"/>
            <p14:sldId id="292"/>
          </p14:sldIdLst>
        </p14:section>
        <p14:section name="Итоги" id="{779caeee-8ad6-958a-685f-ae6691fa3111}">
          <p14:sldIdLst>
            <p14:sldId id="293"/>
            <p14:sldId id="29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39.xml"/><Relationship Id="rId3" Type="http://schemas.openxmlformats.org/officeDocument/2006/relationships/slide" Target="slides/slide38.xml"/><Relationship Id="rId4" Type="http://schemas.openxmlformats.org/officeDocument/2006/relationships/slide" Target="slides/slide37.xml"/><Relationship Id="rId5" Type="http://schemas.openxmlformats.org/officeDocument/2006/relationships/slide" Target="slides/slide36.xml"/><Relationship Id="rId6" Type="http://schemas.openxmlformats.org/officeDocument/2006/relationships/slide" Target="slides/slide35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05840"/>
            <a:ext cx="11094415" cy="0"/>
          </a:xfrm>
          <a:prstGeom prst="line">
            <a:avLst/>
          </a:prstGeom>
          <a:noFill/>
          <a:ln w="9525">
            <a:solidFill>
              <a:srgbClr val="D1D5DB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651760"/>
            <a:ext cx="8229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9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3B82F6"/>
                </a:solidFill>
                <a:latin typeface="Arial"/>
              </a:rPr>
              <a:t>ТЕОРИЯ ВЕРОЯТНОСТЕЙ · ЛЕКЦИЯ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73152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3800" b="1">
                <a:solidFill>
                  <a:srgbClr val="1F2937"/>
                </a:solidFill>
                <a:latin typeface="Arial"/>
              </a:rPr>
              <a:t>Закон больших чисел</a:t>
            </a:r>
          </a:p>
          <a:p>
            <a:pPr>
              <a:spcAft>
                <a:spcPts val="400"/>
              </a:spcAft>
            </a:pPr>
            <a:r>
              <a:rPr sz="3800" b="1">
                <a:solidFill>
                  <a:srgbClr val="1F2937"/>
                </a:solidFill>
                <a:latin typeface="Arial"/>
              </a:rPr>
              <a:t>и центральная</a:t>
            </a:r>
          </a:p>
          <a:p>
            <a:pPr>
              <a:spcAft>
                <a:spcPts val="400"/>
              </a:spcAft>
            </a:pPr>
            <a:r>
              <a:rPr sz="3800" b="1">
                <a:solidFill>
                  <a:srgbClr val="1F2937"/>
                </a:solidFill>
                <a:latin typeface="Arial"/>
              </a:rPr>
              <a:t>предельная теорема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6052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800" b="0">
                <a:solidFill>
                  <a:srgbClr val="6B7280"/>
                </a:solidFill>
                <a:latin typeface="Arial"/>
              </a:rPr>
              <a:t>Почему среднее многих наблюдений устойчиво, как распределена его ошибка и сколько нужно данных</a:t>
            </a:r>
          </a:p>
        </p:txBody>
      </p:sp>
      <p:sp>
        <p:nvSpPr>
          <p:cNvPr id="5" name="Rectangle 4"/>
          <p:cNvSpPr/>
          <p:nvPr/>
        </p:nvSpPr>
        <p:spPr>
          <a:xfrm>
            <a:off x="8503920" y="457200"/>
            <a:ext cx="3108960" cy="310896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_70dfad0c0a265b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1600200"/>
            <a:ext cx="2218944" cy="4602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03504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Arial"/>
              </a:rPr>
              <a:t>ИТМО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От модели к данным: обратная задача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92840" y="6400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6309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1F2937"/>
                </a:solidFill>
                <a:latin typeface="Arial"/>
              </a:rPr>
              <a:t>До сих пор: распределение известно → считаем вероятности. В жизни наоборот: есть данные, распределение неизвестно.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286000"/>
            <a:ext cx="6309360" cy="749808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32918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Сервис ответил на 10 000 запросов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2286000"/>
            <a:ext cx="251460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каково «настоящее» среднее время?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00400"/>
            <a:ext cx="6309360" cy="749808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200400"/>
            <a:ext cx="32918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412 покупок на 8 000 визитов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3200400"/>
            <a:ext cx="251460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какова конверсия и насколько мы уверены?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114800"/>
            <a:ext cx="6309360" cy="749808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114800"/>
            <a:ext cx="32918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9 случаев на 600 жителей против 1 300 на 100 000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4114800"/>
            <a:ext cx="251460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где опаснее?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0" y="1280160"/>
            <a:ext cx="4416552" cy="361188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52360" y="1463039"/>
            <a:ext cx="39593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МОДЕЛЬ ВЫБОРКИ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60" y="1847088"/>
            <a:ext cx="3959352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X₁, …, Xₙ — независимые одинаково распределённые (н. о. р., i.i.d.) с неизвестным F.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Статистика — любая функция выборки: среднее, доля, медиана, максимум.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Повторим сбор данных — получим другое среднее. Статистика — случайная величина.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257800"/>
            <a:ext cx="11094415" cy="50292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25780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ЗБЧ: к чему сходится среднее. ЦПТ: как распределена ошибка при конечном 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Маршрут лекции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92840" y="6400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3017520"/>
            <a:ext cx="10561320" cy="0"/>
          </a:xfrm>
          <a:prstGeom prst="line">
            <a:avLst/>
          </a:prstGeom>
          <a:ln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731520" y="2926080"/>
            <a:ext cx="182880" cy="18288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39" y="2240280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Arial"/>
              </a:rPr>
              <a:t>Сходимость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39" y="324612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три смысла</a:t>
            </a:r>
          </a:p>
        </p:txBody>
      </p:sp>
      <p:sp>
        <p:nvSpPr>
          <p:cNvPr id="8" name="Oval 7"/>
          <p:cNvSpPr/>
          <p:nvPr/>
        </p:nvSpPr>
        <p:spPr>
          <a:xfrm>
            <a:off x="2240280" y="2926080"/>
            <a:ext cx="182880" cy="18288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00200" y="2240280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Arial"/>
              </a:rPr>
              <a:t>ЗБЧ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324612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частота → вероятность</a:t>
            </a:r>
          </a:p>
        </p:txBody>
      </p:sp>
      <p:sp>
        <p:nvSpPr>
          <p:cNvPr id="11" name="Oval 10"/>
          <p:cNvSpPr/>
          <p:nvPr/>
        </p:nvSpPr>
        <p:spPr>
          <a:xfrm>
            <a:off x="3749040" y="2926080"/>
            <a:ext cx="182880" cy="18288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2240280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Arial"/>
              </a:rPr>
              <a:t>Монте-Карло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324612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ожидание = среднее</a:t>
            </a:r>
          </a:p>
        </p:txBody>
      </p:sp>
      <p:sp>
        <p:nvSpPr>
          <p:cNvPr id="14" name="Oval 13"/>
          <p:cNvSpPr/>
          <p:nvPr/>
        </p:nvSpPr>
        <p:spPr>
          <a:xfrm>
            <a:off x="5257800" y="2926080"/>
            <a:ext cx="182880" cy="18288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2240280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Arial"/>
              </a:rPr>
              <a:t>Выборочные хар-ки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24612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оценки и SE</a:t>
            </a:r>
          </a:p>
        </p:txBody>
      </p:sp>
      <p:sp>
        <p:nvSpPr>
          <p:cNvPr id="17" name="Oval 16"/>
          <p:cNvSpPr/>
          <p:nvPr/>
        </p:nvSpPr>
        <p:spPr>
          <a:xfrm>
            <a:off x="6766560" y="2926080"/>
            <a:ext cx="182880" cy="18288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2240280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Arial"/>
              </a:rPr>
              <a:t>ЦПТ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324612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почему нормальное</a:t>
            </a:r>
          </a:p>
        </p:txBody>
      </p:sp>
      <p:sp>
        <p:nvSpPr>
          <p:cNvPr id="20" name="Oval 19"/>
          <p:cNvSpPr/>
          <p:nvPr/>
        </p:nvSpPr>
        <p:spPr>
          <a:xfrm>
            <a:off x="8275320" y="2926080"/>
            <a:ext cx="182880" cy="18288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35240" y="2240280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Arial"/>
              </a:rPr>
              <a:t>Муавр — Лаплас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35240" y="324612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биномиальное ≈ N</a:t>
            </a:r>
          </a:p>
        </p:txBody>
      </p:sp>
      <p:sp>
        <p:nvSpPr>
          <p:cNvPr id="23" name="Oval 22"/>
          <p:cNvSpPr/>
          <p:nvPr/>
        </p:nvSpPr>
        <p:spPr>
          <a:xfrm>
            <a:off x="9784080" y="2926080"/>
            <a:ext cx="182880" cy="18288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0" y="2240280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Arial"/>
              </a:rPr>
              <a:t>Размер выборки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324612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интервалы, n</a:t>
            </a:r>
          </a:p>
        </p:txBody>
      </p:sp>
      <p:sp>
        <p:nvSpPr>
          <p:cNvPr id="26" name="Oval 25"/>
          <p:cNvSpPr/>
          <p:nvPr/>
        </p:nvSpPr>
        <p:spPr>
          <a:xfrm>
            <a:off x="11292840" y="2926080"/>
            <a:ext cx="182880" cy="1828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52760" y="2240280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Arial"/>
              </a:rPr>
              <a:t>Ловушки и ML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52760" y="324612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зависимость, хвосты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846320"/>
            <a:ext cx="11094415" cy="50292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484632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На семинаре всё проверяем симуляциями, а в ДЗ — эксперимент с собственными данными.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sz="3600" b="1">
                <a:solidFill>
                  <a:srgbClr val="1F2937"/>
                </a:solidFill>
                <a:latin typeface="Arial"/>
              </a:rPr>
              <a:t>Сходимость и ЗБЧ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79476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800" b="0">
                <a:solidFill>
                  <a:srgbClr val="6B7280"/>
                </a:solidFill>
                <a:latin typeface="Arial"/>
              </a:rPr>
              <a:t>Почему частота превращается в вероятность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Что значит «сходится» для случайных величин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92840" y="6400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5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3566160" cy="274320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087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F2937"/>
                </a:solidFill>
                <a:latin typeface="Arial"/>
              </a:rPr>
              <a:t>По вероятности</a:t>
            </a:r>
          </a:p>
        </p:txBody>
      </p:sp>
      <p:pic>
        <p:nvPicPr>
          <p:cNvPr id="6" name="Picture 5" descr="f_2b8ad41488ae36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57400"/>
            <a:ext cx="2578608" cy="4236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2788920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большие отклонения всё менее вероятны (слабый ЗБЧ)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79" y="1325880"/>
            <a:ext cx="3566160" cy="274320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79" y="15087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F2937"/>
                </a:solidFill>
                <a:latin typeface="Arial"/>
              </a:rPr>
              <a:t>Почти наверное</a:t>
            </a:r>
          </a:p>
        </p:txBody>
      </p:sp>
      <p:pic>
        <p:nvPicPr>
          <p:cNvPr id="10" name="Picture 9" descr="f_c97e9f6b7d738b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79" y="2057400"/>
            <a:ext cx="2365248" cy="4236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26279" y="2788920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почти каждая траектория сходится (усиленный ЗБЧ)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19" y="1325880"/>
            <a:ext cx="3566160" cy="274320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19" y="15087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F2937"/>
                </a:solidFill>
                <a:latin typeface="Arial"/>
              </a:rPr>
              <a:t>По распределению</a:t>
            </a:r>
          </a:p>
        </p:txBody>
      </p:sp>
      <p:pic>
        <p:nvPicPr>
          <p:cNvPr id="14" name="Picture 13" descr="f_705bb2991970967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19" y="2057400"/>
            <a:ext cx="2081784" cy="4297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75319" y="2788920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сходятся вероятности, а не значения (ЦПТ)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34340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0">
                <a:solidFill>
                  <a:srgbClr val="6B7280"/>
                </a:solidFill>
                <a:latin typeface="Arial"/>
              </a:rPr>
              <a:t>почти наверное ⇒ по вероятности ⇒ по распределению; обратное в общем случае неверно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ЗБЧ в форме Чебышёва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92840" y="6400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F2937"/>
                </a:solidFill>
                <a:latin typeface="Arial"/>
              </a:rPr>
              <a:t>X₁, X₂, … некоррелированы, EXₖ = μ, DXₖ = σ² &lt; ∞</a:t>
            </a:r>
          </a:p>
        </p:txBody>
      </p:sp>
      <p:pic>
        <p:nvPicPr>
          <p:cNvPr id="5" name="Picture 4" descr="f_ebd9ec33067d62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5126736" cy="673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926080"/>
            <a:ext cx="5943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F2937"/>
                </a:solidFill>
                <a:latin typeface="Arial"/>
              </a:rPr>
              <a:t>Доказательство в одну строку: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F2937"/>
                </a:solidFill>
                <a:latin typeface="Arial"/>
              </a:rPr>
              <a:t>E X̄ = μ, D X̄ = σ²/n — и неравенство Чебышёва для X̄.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F2937"/>
                </a:solidFill>
                <a:latin typeface="Arial"/>
              </a:rPr>
              <a:t/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F2937"/>
                </a:solidFill>
                <a:latin typeface="Arial"/>
              </a:rPr>
              <a:t>Нужны только две вещи: дисперсия среднего σ²/n и её стремление к нулю.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1280160"/>
            <a:ext cx="4690872" cy="173736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78040" y="1463039"/>
            <a:ext cx="4233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Из лекции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78040" y="1847088"/>
            <a:ext cx="4233672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Неравенство Чебышёва: P(|Y − EY| ≥ ε) ≤ DY/ε²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Закон √n: σ(X̄) = σ/√n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3200400"/>
            <a:ext cx="4690872" cy="173736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78040" y="3383280"/>
            <a:ext cx="4233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Обобщение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3767328"/>
            <a:ext cx="4233672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Распределения могут быть разными: достаточно DXₖ ≤ C и одинаковых средних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ЗБЧ Бернулли: частота → вероятность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92840" y="6400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7</a:t>
            </a:r>
          </a:p>
        </p:txBody>
      </p:sp>
      <p:pic>
        <p:nvPicPr>
          <p:cNvPr id="4" name="Picture 3" descr="05-lln-bernoull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6675120" cy="3603812"/>
          </a:xfrm>
          <a:prstGeom prst="rect">
            <a:avLst/>
          </a:prstGeom>
        </p:spPr>
      </p:pic>
      <p:pic>
        <p:nvPicPr>
          <p:cNvPr id="5" name="Picture 4" descr="f_72bf31b6a04785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1325880"/>
            <a:ext cx="3675887" cy="6248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52360" y="2331720"/>
            <a:ext cx="4187952" cy="246888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2514600"/>
            <a:ext cx="3730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Частотный смысл вероятности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2898648"/>
            <a:ext cx="3730752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Sₙ = сумма индикаторов успеха, D Iₖ = p(1 − p) ≤ 1/4.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Вероятность — то, к чему стремится частота в длинной серии независимых повторений (Бернулли, 1713).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257800"/>
            <a:ext cx="11094415" cy="50292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25780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Голубой коридор p ± 2·√(p(1−p)/n) сужается как 1/√n — его ширину объяснит ЦПТ.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Дисперсия не обязательна: Хинчин и Колмогоров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92840" y="6400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8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5394960" cy="146304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3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ЗБЧ Хинчина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47088"/>
            <a:ext cx="4937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н. о. р. и E|X| &lt; ∞  ⇒  X̄ₙ → μ по вероятности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926080"/>
            <a:ext cx="5394960" cy="146304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10896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Усиленный ЗБЧ (Колмогоров)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493008"/>
            <a:ext cx="49377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те же условия  ⇒  X̄ₙ → μ почти наверное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63640" y="1280160"/>
          <a:ext cx="5376671" cy="226771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00200"/>
                <a:gridCol w="1691640"/>
                <a:gridCol w="2084831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937"/>
                          </a:solidFill>
                          <a:latin typeface="Arial"/>
                        </a:rPr>
                        <a:t>Условие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937"/>
                          </a:solidFill>
                          <a:latin typeface="Arial"/>
                        </a:rPr>
                        <a:t>Зачем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937"/>
                          </a:solidFill>
                          <a:latin typeface="Arial"/>
                        </a:rPr>
                        <a:t>Если нарушить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5F7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EX существует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есть к чему сходиться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Коши: среднее не стабилизируется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независимость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 X̄ ∝ 1/n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сходится медленнее или не туда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одинаковое распр.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одно μ у всех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сходится к среднему ожиданий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48640" y="4846320"/>
            <a:ext cx="11094415" cy="50292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84632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Среднее сходится к ожиданию всегда, когда ожидание существует. При DX = ∞ — медленно и рывками.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Метод Монте-Карло: ожидание = среднее симуляций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92840" y="6400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9</a:t>
            </a:r>
          </a:p>
        </p:txBody>
      </p:sp>
      <p:pic>
        <p:nvPicPr>
          <p:cNvPr id="4" name="Picture 3" descr="05-monte-car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6949440" cy="3324061"/>
          </a:xfrm>
          <a:prstGeom prst="rect">
            <a:avLst/>
          </a:prstGeom>
        </p:spPr>
      </p:pic>
      <p:pic>
        <p:nvPicPr>
          <p:cNvPr id="5" name="Picture 4" descr="f_619aed2eb1cd02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79" y="1325880"/>
            <a:ext cx="3916375" cy="104692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26679" y="2606040"/>
            <a:ext cx="3913632" cy="237744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79" y="2788920"/>
            <a:ext cx="34564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Ошибка ∝ 1/√n всегда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3172968"/>
            <a:ext cx="3456432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В 1D трапеции точнее. В 100D — единственный рабочий способ.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Байесовские методы, RL, физика, финансы.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257800"/>
            <a:ext cx="11094415" cy="50292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25780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π ≈ 4 · доля точек в четверти круга; 10⁶ точек дают π ≈ 3,1416 ± 0,0032.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Чего ЗБЧ не говорит: ошибка игрока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92840" y="6400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10</a:t>
            </a:r>
          </a:p>
        </p:txBody>
      </p:sp>
      <p:pic>
        <p:nvPicPr>
          <p:cNvPr id="4" name="Picture 3" descr="05-gamb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6949440" cy="304155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726679" y="1280160"/>
            <a:ext cx="3913632" cy="1965960"/>
          </a:xfrm>
          <a:prstGeom prst="rect">
            <a:avLst/>
          </a:prstGeom>
          <a:solidFill>
            <a:srgbClr val="FDE9D3"/>
          </a:solidFill>
          <a:ln w="6350">
            <a:solidFill>
              <a:srgbClr val="FDE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1463039"/>
            <a:ext cx="34564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Монета не помнит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1847088"/>
            <a:ext cx="3456432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После 10 решек P(орёл) = 1/2. Отклонения не компенсируются, а разбавляются.</a:t>
            </a:r>
          </a:p>
        </p:txBody>
      </p:sp>
      <p:pic>
        <p:nvPicPr>
          <p:cNvPr id="8" name="Picture 7" descr="f_6a8a499cf4ba30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79" y="3474720"/>
            <a:ext cx="3913632" cy="45975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4343400"/>
            <a:ext cx="11094415" cy="114300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52628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Рулетка: ставка на красное, EX = −1/37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910328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1 000 ставок: −27 ± 32 ₽, игрок в плюсе с вероятностью ≈ 19 %.   10⁶ ставок у казино: +27 000 ± 1 000 ₽, убыток практически невозможен.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sz="3600" b="1">
                <a:solidFill>
                  <a:srgbClr val="1F2937"/>
                </a:solidFill>
                <a:latin typeface="Arial"/>
              </a:rPr>
              <a:t>Выборочные характеристики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79476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800" b="0">
                <a:solidFill>
                  <a:srgbClr val="6B7280"/>
                </a:solidFill>
                <a:latin typeface="Arial"/>
              </a:rPr>
              <a:t>Каждая статистика — случайная величина со своим распределением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Выборочное распределение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92840" y="6400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12</a:t>
            </a:r>
          </a:p>
        </p:txBody>
      </p:sp>
      <p:pic>
        <p:nvPicPr>
          <p:cNvPr id="4" name="Picture 3" descr="05-sampling-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188720"/>
            <a:ext cx="8640765" cy="28346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206240"/>
            <a:ext cx="3566160" cy="137160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3891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Несмещённость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773168"/>
            <a:ext cx="31089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ET = θ: в среднем не ошибаемся в одну сторону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79" y="4206240"/>
            <a:ext cx="3566160" cy="137160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79" y="43891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Состоятельность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79" y="4773168"/>
            <a:ext cx="31089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T → θ при n → ∞: это ЗБЧ для статистики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19" y="4206240"/>
            <a:ext cx="3593592" cy="137160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19" y="4389120"/>
            <a:ext cx="31363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Стандартная ошибка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19" y="4773168"/>
            <a:ext cx="313639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SE = √DT — главная мера точности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Среднее, доля, дисперсия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92840" y="6400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13</a:t>
            </a:r>
          </a:p>
        </p:txBody>
      </p:sp>
      <p:pic>
        <p:nvPicPr>
          <p:cNvPr id="4" name="Picture 3" descr="f_cad0b77559c0abb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4575048" cy="621792"/>
          </a:xfrm>
          <a:prstGeom prst="rect">
            <a:avLst/>
          </a:prstGeom>
        </p:spPr>
      </p:pic>
      <p:pic>
        <p:nvPicPr>
          <p:cNvPr id="5" name="Picture 4" descr="f_168964ebb8c161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103120"/>
            <a:ext cx="5312664" cy="734568"/>
          </a:xfrm>
          <a:prstGeom prst="rect">
            <a:avLst/>
          </a:prstGeom>
        </p:spPr>
      </p:pic>
      <p:pic>
        <p:nvPicPr>
          <p:cNvPr id="6" name="Picture 5" descr="f_be875b4a4a1c522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017520"/>
            <a:ext cx="6035040" cy="99807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343400"/>
            <a:ext cx="6035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6B7280"/>
                </a:solidFill>
                <a:latin typeface="Arial"/>
              </a:rPr>
              <a:t>На практике σ и p заменяют оценками: SE ≈ s/√n. По ЗБЧ это близко к истине.</a:t>
            </a:r>
          </a:p>
        </p:txBody>
      </p:sp>
      <p:sp>
        <p:nvSpPr>
          <p:cNvPr id="8" name="Rectangle 7"/>
          <p:cNvSpPr/>
          <p:nvPr/>
        </p:nvSpPr>
        <p:spPr>
          <a:xfrm>
            <a:off x="6949440" y="1280160"/>
            <a:ext cx="4690872" cy="2103120"/>
          </a:xfrm>
          <a:prstGeom prst="rect">
            <a:avLst/>
          </a:prstGeom>
          <a:solidFill>
            <a:srgbClr val="FDE9D3"/>
          </a:solidFill>
          <a:ln w="6350">
            <a:solidFill>
              <a:srgbClr val="FDE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78040" y="1463039"/>
            <a:ext cx="4233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Почему n − 1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8040" y="1847088"/>
            <a:ext cx="4233672" cy="141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E Σ(Xₖ − X̄)² = nσ² − n·σ²/n = (n − 1)σ²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X̄ подогнано под выборку и ближе к точкам, чем μ.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0" y="3566160"/>
            <a:ext cx="4690872" cy="164592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78040" y="3749039"/>
            <a:ext cx="4233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Разброс самой s²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78040" y="4133087"/>
            <a:ext cx="423367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D s² ≈ (μ₄ − σ⁴)/n: при тяжёлых хвостах один выброс меняет s² в разы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Эмпирическая функция распределения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92840" y="6400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14</a:t>
            </a:r>
          </a:p>
        </p:txBody>
      </p:sp>
      <p:pic>
        <p:nvPicPr>
          <p:cNvPr id="4" name="Picture 3" descr="05-ec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8732111" cy="2834640"/>
          </a:xfrm>
          <a:prstGeom prst="rect">
            <a:avLst/>
          </a:prstGeom>
        </p:spPr>
      </p:pic>
      <p:pic>
        <p:nvPicPr>
          <p:cNvPr id="5" name="Picture 4" descr="f_dfe0455ee01094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297680"/>
            <a:ext cx="6766560" cy="52316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589520" y="4160520"/>
            <a:ext cx="4050791" cy="146304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4343400"/>
            <a:ext cx="359359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Гливенко — Кантелли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4727448"/>
            <a:ext cx="3593591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Arial"/>
              </a:rPr>
              <a:t>По большой выборке восстанавливается всё распределение, а значит, и квантили.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Как ведут себя выборочные характеристики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92840" y="6400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15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6309360" cy="3200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737360"/>
                <a:gridCol w="1645920"/>
                <a:gridCol w="29260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937"/>
                          </a:solidFill>
                          <a:latin typeface="Arial"/>
                        </a:rPr>
                        <a:t>Статистика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937"/>
                          </a:solidFill>
                          <a:latin typeface="Arial"/>
                        </a:rPr>
                        <a:t>Оценивает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937"/>
                          </a:solidFill>
                          <a:latin typeface="Arial"/>
                        </a:rPr>
                        <a:t>SE при большом n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Arial"/>
                        </a:rPr>
                        <a:t>x̄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Arial"/>
                        </a:rPr>
                        <a:t>μ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Arial"/>
                        </a:rPr>
                        <a:t>σ/√n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Arial"/>
                        </a:rPr>
                        <a:t>p̂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Arial"/>
                        </a:rPr>
                        <a:t>√(p(1−p)/n)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Arial"/>
                        </a:rPr>
                        <a:t>s² (ddof=1)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Arial"/>
                        </a:rPr>
                        <a:t>σ²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Arial"/>
                        </a:rPr>
                        <a:t>√((μ₄ − σ⁴)/n)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Arial"/>
                        </a:rPr>
                        <a:t>медиана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Arial"/>
                        </a:rPr>
                        <a:t>медиана m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Arial"/>
                        </a:rPr>
                        <a:t>1/(2f(m)√n)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Arial"/>
                        </a:rPr>
                        <a:t>F̂ₙ(x)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Arial"/>
                        </a:rPr>
                        <a:t>F(x)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Arial"/>
                        </a:rPr>
                        <a:t>√(F(1−F)/n)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Arial"/>
                        </a:rPr>
                        <a:t>максимум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Arial"/>
                        </a:rPr>
                        <a:t>растёт с n, не сходится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178040" y="1280160"/>
            <a:ext cx="4462272" cy="1874519"/>
          </a:xfrm>
          <a:prstGeom prst="rect">
            <a:avLst/>
          </a:prstGeom>
          <a:solidFill>
            <a:srgbClr val="FDE9D3"/>
          </a:solidFill>
          <a:ln w="6350">
            <a:solidFill>
              <a:srgbClr val="FDE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06640" y="1463039"/>
            <a:ext cx="40050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Медиана или среднее?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847088"/>
            <a:ext cx="4005072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Arial"/>
              </a:rPr>
              <a:t>Нормальные данные: D(медианы) ≈ 1,57·σ²/n — среднее эффективнее.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Arial"/>
              </a:rPr>
              <a:t>Тяжёлые хвосты: медиана устойчива, среднее скачет.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78040" y="3337560"/>
            <a:ext cx="4462272" cy="169164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0" y="3520440"/>
            <a:ext cx="40050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Общий закон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3904487"/>
            <a:ext cx="40050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Arial"/>
              </a:rPr>
              <a:t>Почти все «гладкие» статистики ведут себя как средние: точность ∝ √n, и к ним применима ЦПТ.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sz="3600" b="1">
                <a:solidFill>
                  <a:srgbClr val="1F2937"/>
                </a:solidFill>
                <a:latin typeface="Arial"/>
              </a:rPr>
              <a:t>Центральная предельная теорема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79476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800" b="0">
                <a:solidFill>
                  <a:srgbClr val="6B7280"/>
                </a:solidFill>
                <a:latin typeface="Arial"/>
              </a:rPr>
              <a:t>Сумма многих независимых слагаемых почти нормальна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Центральная предельная теорема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92840" y="6400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F2937"/>
                </a:solidFill>
                <a:latin typeface="Arial"/>
              </a:rPr>
              <a:t>X₁, X₂, … н. о. р., EXₖ = μ, 0 &lt; DXₖ = σ² &lt; ∞</a:t>
            </a:r>
          </a:p>
        </p:txBody>
      </p:sp>
      <p:pic>
        <p:nvPicPr>
          <p:cNvPr id="5" name="Picture 4" descr="f_60aaa7f576d5bc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4410456" cy="682752"/>
          </a:xfrm>
          <a:prstGeom prst="rect">
            <a:avLst/>
          </a:prstGeom>
        </p:spPr>
      </p:pic>
      <p:pic>
        <p:nvPicPr>
          <p:cNvPr id="6" name="Picture 5" descr="f_26a73b5a2a8c154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017520"/>
            <a:ext cx="6492240" cy="4881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023360"/>
            <a:ext cx="6400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Теорема Линдеберга — Леви. Значок ≈ читается «приближённо распределено как».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0" y="1280160"/>
            <a:ext cx="4325112" cy="356616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43800" y="1463039"/>
            <a:ext cx="3867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Что удивительно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1847088"/>
            <a:ext cx="3867912" cy="2880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О слагаемых известны только μ и σ. Они могут быть дискретными, скошенными, двугорбыми.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Сумма всё равно почти нормальна: остальная информация о форме «забывается».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ЦПТ на картинке: разные слагаемые — один предел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92840" y="6400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18</a:t>
            </a:r>
          </a:p>
        </p:txBody>
      </p:sp>
      <p:pic>
        <p:nvPicPr>
          <p:cNvPr id="4" name="Picture 3" descr="05-clt-sha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7223760" cy="410129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001000" y="1280160"/>
            <a:ext cx="3639312" cy="393192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0" y="1463039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Скорость разная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1847088"/>
            <a:ext cx="3182112" cy="3246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Равномерное: нормальная форма уже при n = 5.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Показательное: нужно n ≈ 30.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Бернулли p = 0,1: при n = 30 ещё видны асимметрия и дискретность.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Почему именно нормальное распределение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92840" y="6400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19</a:t>
            </a:r>
          </a:p>
        </p:txBody>
      </p:sp>
      <p:pic>
        <p:nvPicPr>
          <p:cNvPr id="4" name="Picture 3" descr="f_f5bebe24fff98b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5852160" cy="5577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2514600"/>
            <a:ext cx="58521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Характеристическая функция суммы = произведение. От слагаемых в пределе остаются только два момента: старшие члены порядка n^(−3/2) исчезают.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Нормальное распределение устойчиво: N + N = N. Это «неподвижная точка» операции «сложить и стандартизовать».</a:t>
            </a:r>
          </a:p>
        </p:txBody>
      </p:sp>
      <p:pic>
        <p:nvPicPr>
          <p:cNvPr id="6" name="Picture 5" descr="05-galt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188720"/>
            <a:ext cx="5056632" cy="23286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257800"/>
            <a:ext cx="11094415" cy="50292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25780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Рост, ошибка измерения, шум датчика — суммы многих мелких независимых влияний (ЦПТ Ляпунова).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Разные слагаемые: теорема Ляпунова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92840" y="6400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20</a:t>
            </a:r>
          </a:p>
        </p:txBody>
      </p:sp>
      <p:pic>
        <p:nvPicPr>
          <p:cNvPr id="4" name="Picture 3" descr="f_2cdd7c0ab58669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1094415" cy="107403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2560320"/>
            <a:ext cx="5394960" cy="219456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743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Смысл условия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27248"/>
            <a:ext cx="493776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Вклад каждого слагаемого в общую дисперсию пренебрежимо мал.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Если одно слагаемое доминирует, сумма похожа на него, а не на нормальное.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5352" y="2560320"/>
            <a:ext cx="5394960" cy="219456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2743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Пример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2" y="3127248"/>
            <a:ext cx="493776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Время ответа = сеть + очередь + БД + сериализация + …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Много сопоставимых частей → почти нормально. Одна доминирующая медленная БД → форма как у неё.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Теорема Муавра — Лапласа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92840" y="6400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21</a:t>
            </a:r>
          </a:p>
        </p:txBody>
      </p:sp>
      <p:pic>
        <p:nvPicPr>
          <p:cNvPr id="4" name="Picture 3" descr="f_6db6f73298e42b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7979664" cy="777240"/>
          </a:xfrm>
          <a:prstGeom prst="rect">
            <a:avLst/>
          </a:prstGeom>
        </p:spPr>
      </p:pic>
      <p:pic>
        <p:nvPicPr>
          <p:cNvPr id="5" name="Picture 4" descr="05-de-moiv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331720"/>
            <a:ext cx="5852160" cy="314861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675120" y="2377440"/>
            <a:ext cx="4965192" cy="1417320"/>
          </a:xfrm>
          <a:prstGeom prst="rect">
            <a:avLst/>
          </a:prstGeom>
          <a:solidFill>
            <a:srgbClr val="FDE9D3"/>
          </a:solidFill>
          <a:ln w="6350">
            <a:solidFill>
              <a:srgbClr val="FDE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03720" y="2560320"/>
            <a:ext cx="45079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Поправка на непрерывность ±0,5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2944368"/>
            <a:ext cx="450799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Arial"/>
              </a:rPr>
              <a:t>Столбик значения k занимает отрезок от k − 0,5 до k + 0,5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0" y="3977639"/>
            <a:ext cx="4965192" cy="178308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3720" y="4160520"/>
            <a:ext cx="45079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Локальная теорема и Гмурман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4544568"/>
            <a:ext cx="45079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Arial"/>
              </a:rPr>
              <a:t>P(Sₙ = k) ≈ φ(x)/√(np(1−p)).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Arial"/>
              </a:rPr>
              <a:t>У Гмурмана через Φ₀(x) = Φ(x) − ½; в Python stats.norm.cdf.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Муавр — Лаплас в цифрах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92840" y="6400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22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25880"/>
          <a:ext cx="11091672" cy="21945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959352"/>
                <a:gridCol w="1828800"/>
                <a:gridCol w="1828800"/>
                <a:gridCol w="1645920"/>
                <a:gridCol w="18288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937"/>
                          </a:solidFill>
                          <a:latin typeface="Arial"/>
                        </a:rPr>
                        <a:t>Задача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937"/>
                          </a:solidFill>
                          <a:latin typeface="Arial"/>
                        </a:rPr>
                        <a:t>ЦПТ без поправки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937"/>
                          </a:solidFill>
                          <a:latin typeface="Arial"/>
                        </a:rPr>
                        <a:t>ЦПТ с поправкой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937"/>
                          </a:solidFill>
                          <a:latin typeface="Arial"/>
                        </a:rPr>
                        <a:t>Пуассон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937"/>
                          </a:solidFill>
                          <a:latin typeface="Arial"/>
                        </a:rPr>
                        <a:t>Точно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Arial"/>
                        </a:rPr>
                        <a:t>1000 монет: P(480 ≤ S ≤ 520)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Arial"/>
                        </a:rPr>
                        <a:t>0,794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Arial"/>
                        </a:rPr>
                        <a:t>0,8052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Arial"/>
                        </a:rPr>
                        <a:t>0,80523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Arial"/>
                        </a:rPr>
                        <a:t>Брак 2 %, 400 шт.: P(S ≥ 12)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Arial"/>
                        </a:rPr>
                        <a:t>0,077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Arial"/>
                        </a:rPr>
                        <a:t>0,106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Arial"/>
                        </a:rPr>
                        <a:t>0,112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Arial"/>
                        </a:rPr>
                        <a:t>0,110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Arial"/>
                        </a:rPr>
                        <a:t>100 кубиков: P(S ≥ 380)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Arial"/>
                        </a:rPr>
                        <a:t>0,040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Arial"/>
                        </a:rPr>
                        <a:t>0,0421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Arial"/>
                        </a:rPr>
                        <a:t>0,0420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48640" y="3794760"/>
            <a:ext cx="5394960" cy="150876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97764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Правило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361688"/>
            <a:ext cx="493776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Нормальное приближение хорошо при np(1 − p) ≳ 10. При малом p точнее Пуассон.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5352" y="3794760"/>
            <a:ext cx="5394960" cy="150876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397764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Сумма времени: 100 × Exp(50 мс)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2" y="4361688"/>
            <a:ext cx="493776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P(S &gt; 6 с): ЦПТ 0,023, точно (гамма) 0,028 — хвост скошенных величин занижается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Правило «1,96 сигмы» для среднего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92840" y="6400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23</a:t>
            </a:r>
          </a:p>
        </p:txBody>
      </p:sp>
      <p:pic>
        <p:nvPicPr>
          <p:cNvPr id="4" name="Picture 3" descr="f_035e22b4cc8f65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5148072" cy="621792"/>
          </a:xfrm>
          <a:prstGeom prst="rect">
            <a:avLst/>
          </a:prstGeom>
        </p:spPr>
      </p:pic>
      <p:pic>
        <p:nvPicPr>
          <p:cNvPr id="5" name="Picture 4" descr="f_314f3709bd30487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377440"/>
            <a:ext cx="5148072" cy="621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3474720"/>
            <a:ext cx="6035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6B7280"/>
                </a:solidFill>
                <a:latin typeface="Arial"/>
              </a:rPr>
              <a:t>1,96 и 2,58 — квантили z₀,₉₇₅ и z₀,₉₉₅: stats.norm.ppf(0.975)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1280160"/>
            <a:ext cx="4690872" cy="160020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78040" y="1463039"/>
            <a:ext cx="4233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Чебышёв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78040" y="1847088"/>
            <a:ext cx="423367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вне ±2σ — до 25 % для любого распределения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3063240"/>
            <a:ext cx="4690872" cy="160020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78040" y="3246120"/>
            <a:ext cx="4233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ЦПТ для среднего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3630168"/>
            <a:ext cx="423367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вне ±2σ/√n — около 5 %: оценки во много раз точнее, но приближённые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Насколько большим должно быть 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92840" y="6400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24</a:t>
            </a:r>
          </a:p>
        </p:txBody>
      </p:sp>
      <p:pic>
        <p:nvPicPr>
          <p:cNvPr id="4" name="Picture 3" descr="05-berry-ess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6035040" cy="3181593"/>
          </a:xfrm>
          <a:prstGeom prst="rect">
            <a:avLst/>
          </a:prstGeom>
        </p:spPr>
      </p:pic>
      <p:pic>
        <p:nvPicPr>
          <p:cNvPr id="5" name="Picture 4" descr="f_3f44e88ed6ebc64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1325880"/>
            <a:ext cx="4830775" cy="674774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12280" y="2286000"/>
          <a:ext cx="4828032" cy="24688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816352"/>
                <a:gridCol w="201168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937"/>
                          </a:solidFill>
                          <a:latin typeface="Arial"/>
                        </a:rPr>
                        <a:t>Слагаемые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937"/>
                          </a:solidFill>
                          <a:latin typeface="Arial"/>
                        </a:rPr>
                        <a:t>Хватит n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симметричные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5–10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показательное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30–100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Бернулли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np(1−p) ≥ 10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выручка, размеры файлов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сотни–тысячи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DX = ∞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никогда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257800"/>
            <a:ext cx="11094415" cy="502920"/>
          </a:xfrm>
          <a:prstGeom prst="rect">
            <a:avLst/>
          </a:prstGeom>
          <a:solidFill>
            <a:srgbClr val="FDE9D3"/>
          </a:solidFill>
          <a:ln w="6350">
            <a:solidFill>
              <a:srgbClr val="FDE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25780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Правило «n ≥ 30» грубое: центр приближается лучше хвостов, редкие события ЦПТ не оценивает.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Проверка нормальности: QQ-график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92840" y="6400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25</a:t>
            </a:r>
          </a:p>
        </p:txBody>
      </p:sp>
      <p:pic>
        <p:nvPicPr>
          <p:cNvPr id="4" name="Picture 3" descr="05-q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188720"/>
            <a:ext cx="9006225" cy="34747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846320"/>
            <a:ext cx="11094415" cy="50292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84632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Точки на прямой ⇔ распределение близко к нормальному. Изгиб вверх справа — тяжёлый правый хвост.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sz="3600" b="1">
                <a:solidFill>
                  <a:srgbClr val="1F2937"/>
                </a:solidFill>
                <a:latin typeface="Arial"/>
              </a:rPr>
              <a:t>Влияние размера выборки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79476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800" b="0">
                <a:solidFill>
                  <a:srgbClr val="6B7280"/>
                </a:solidFill>
                <a:latin typeface="Arial"/>
              </a:rPr>
              <a:t>Интервалы, объём выборки и закон малых чисел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Закон √n и цена точности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92840" y="6400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27</a:t>
            </a:r>
          </a:p>
        </p:txBody>
      </p:sp>
      <p:pic>
        <p:nvPicPr>
          <p:cNvPr id="4" name="Picture 3" descr="f_f35063d68e91e2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557528" cy="62179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2377440"/>
            <a:ext cx="5394960" cy="237744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5603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Следствия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44368"/>
            <a:ext cx="49377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Погрешность вдвое меньше → данных вчетверо больше.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В 10 раз меньше → в 100 раз больше.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Точность зависит от абсолютного n, а не от доли совокупности.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5352" y="1280160"/>
            <a:ext cx="5394960" cy="347472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146303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Опрос 1 000 человек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2" y="1847088"/>
            <a:ext cx="4937760" cy="278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одинаково точен для города на 100 000 жителей и для страны на 140 млн — если выборка случайная.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Погрешность ±3 п. п. в новостях — это 1,96·√(¼/1000) ≈ 0,031.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Доверительный интервал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92840" y="6400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28</a:t>
            </a:r>
          </a:p>
        </p:txBody>
      </p:sp>
      <p:pic>
        <p:nvPicPr>
          <p:cNvPr id="4" name="Picture 3" descr="f_f63df82c85d0d0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6327648" cy="804672"/>
          </a:xfrm>
          <a:prstGeom prst="rect">
            <a:avLst/>
          </a:prstGeom>
        </p:spPr>
      </p:pic>
      <p:pic>
        <p:nvPicPr>
          <p:cNvPr id="5" name="Picture 4" descr="05-ci-cove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286000"/>
            <a:ext cx="5760720" cy="315261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583680" y="2331720"/>
            <a:ext cx="5056632" cy="160020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12280" y="2514600"/>
            <a:ext cx="45994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Как понимать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80" y="2898648"/>
            <a:ext cx="45994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Arial"/>
              </a:rPr>
              <a:t>Случаен интервал, а не μ: ≈95 % интервалов из повторных выборок накрывают μ.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4114800"/>
            <a:ext cx="5056632" cy="160020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12280" y="4297680"/>
            <a:ext cx="45994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Конверсия 412 / 8 000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4681728"/>
            <a:ext cx="45994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Arial"/>
              </a:rPr>
              <a:t>p̂ = 5,15 %, SE = 0,25 п. п., интервал 95 %: от 4,67 % до 5,63 %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Сколько данных нужно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92840" y="6400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29</a:t>
            </a:r>
          </a:p>
        </p:txBody>
      </p:sp>
      <p:pic>
        <p:nvPicPr>
          <p:cNvPr id="4" name="Picture 3" descr="f_78ec4b028b37f8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6989064" cy="63703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423160"/>
          <a:ext cx="5120640" cy="18288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737360"/>
                <a:gridCol w="1554480"/>
                <a:gridCol w="18288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937"/>
                          </a:solidFill>
                          <a:latin typeface="Arial"/>
                        </a:rPr>
                        <a:t>Погрешность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937"/>
                          </a:solidFill>
                          <a:latin typeface="Arial"/>
                        </a:rPr>
                        <a:t>n по ЦПТ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937"/>
                          </a:solidFill>
                          <a:latin typeface="Arial"/>
                        </a:rPr>
                        <a:t>n по Чебышёву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Arial"/>
                        </a:rPr>
                        <a:t>±5 п. п.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Arial"/>
                        </a:rPr>
                        <a:t>2 000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Arial"/>
                        </a:rPr>
                        <a:t>±3 п. п.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Arial"/>
                        </a:rPr>
                        <a:t>1 068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Arial"/>
                        </a:rPr>
                        <a:t>5 556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Arial"/>
                        </a:rPr>
                        <a:t>±1 п. п.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Arial"/>
                        </a:rPr>
                        <a:t>9 604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Arial"/>
                        </a:rPr>
                        <a:t>50 000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05-sample-siz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2286000"/>
            <a:ext cx="5605272" cy="287911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440680"/>
            <a:ext cx="11094415" cy="45720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44068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Время ответа, σ ≈ 80 мс: для ±5 мс нужно около 1 000 запросов, для ±1 мс — около 25 000.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«Самая опасная формула» и закон малых чисел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92840" y="6400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30</a:t>
            </a:r>
          </a:p>
        </p:txBody>
      </p:sp>
      <p:pic>
        <p:nvPicPr>
          <p:cNvPr id="4" name="Picture 3" descr="05-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6309360" cy="30383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086600" y="1280160"/>
            <a:ext cx="4553712" cy="2011680"/>
          </a:xfrm>
          <a:prstGeom prst="rect">
            <a:avLst/>
          </a:prstGeom>
          <a:solidFill>
            <a:srgbClr val="FDE9D3"/>
          </a:solidFill>
          <a:ln w="6350">
            <a:solidFill>
              <a:srgbClr val="FDE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0" y="1463039"/>
            <a:ext cx="40965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Маленькие школы (Уэйнер, 2007)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847088"/>
            <a:ext cx="4096512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Arial"/>
              </a:rPr>
              <a:t>Среди лучших школ много маленьких → 1,7 млрд $ на разделение школ. Среди худших их тоже много.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86600" y="3474720"/>
            <a:ext cx="4553712" cy="173736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3657600"/>
            <a:ext cx="40965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Как не попасться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4041648"/>
            <a:ext cx="4096512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Arial"/>
              </a:rPr>
              <a:t>Сначала спросите, по скольким наблюдениям посчитано. Сравнивайте z-оценки, смотрите на воронку.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440680"/>
            <a:ext cx="11094415" cy="45720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44068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У всех 400 районов одна и та же вероятность 1,2 %. Все «рекордсмены» — маленькие.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sz="3600" b="1">
                <a:solidFill>
                  <a:srgbClr val="1F2937"/>
                </a:solidFill>
                <a:latin typeface="Arial"/>
              </a:rPr>
              <a:t>Бутстреп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79476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800" b="0">
                <a:solidFill>
                  <a:srgbClr val="6B7280"/>
                </a:solidFill>
                <a:latin typeface="Arial"/>
              </a:rPr>
              <a:t>Погрешность любой статистики по одной выборке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Идея бутстрепа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92840" y="6400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32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4206240" cy="361188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39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Алгоритм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47088"/>
            <a:ext cx="3749039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Arial"/>
              </a:rPr>
              <a:t>1. Из выборки x извлечь n значений с возвращением: x*.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Arial"/>
              </a:rPr>
              <a:t>2. Посчитать T* = T(x*).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Arial"/>
              </a:rPr>
              <a:t>3. Повторить B = 2 000–10 000 раз.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Arial"/>
              </a:rPr>
              <a:t>4. SE ≈ std(T*); интервал 95 % — квантили 2,5 % и 97,5 % чисел T*.</a:t>
            </a:r>
          </a:p>
        </p:txBody>
      </p:sp>
      <p:pic>
        <p:nvPicPr>
          <p:cNvPr id="7" name="Picture 6" descr="05-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234440"/>
            <a:ext cx="6839712" cy="269402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800600" y="4023360"/>
            <a:ext cx="68397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Arial"/>
              </a:rPr>
              <a:t>Неизвестное F заменяем на F̂ₙ — саму выборку. Бутстреп-распределение стоит в выборочной медиане, но его ширина того же порядка, что у настоящего.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120640"/>
            <a:ext cx="11094415" cy="50292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2064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idx = rng.integers(0, n, size=(B, n));  med_star = np.median(x[idx], axis=1)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Почему работает и насколько точно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92840" y="6400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33</a:t>
            </a:r>
          </a:p>
        </p:txBody>
      </p:sp>
      <p:pic>
        <p:nvPicPr>
          <p:cNvPr id="4" name="Picture 3" descr="f_7c94f1263571ed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6504432" cy="55168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2331720"/>
            <a:ext cx="3566160" cy="237744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5146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Гливенко — Кантелли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98648"/>
            <a:ext cx="31089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Arial"/>
              </a:rPr>
              <a:t>F̂ₙ → F, поэтому SE(F̂ₙ) → SE(F) для гладких статистик: средние, квантили, корреляции.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79" y="2331720"/>
            <a:ext cx="3566160" cy="237744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79" y="25146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63 % разных точек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79" y="2898648"/>
            <a:ext cx="31089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Arial"/>
              </a:rPr>
              <a:t>В бутстреп-выборке около 63 % исходных наблюдений, остальное повторы. Отсюда out-of-bag в случайном лесе.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19" y="2331720"/>
            <a:ext cx="3593592" cy="2377440"/>
          </a:xfrm>
          <a:prstGeom prst="rect">
            <a:avLst/>
          </a:prstGeom>
          <a:solidFill>
            <a:srgbClr val="FDE9D3"/>
          </a:solidFill>
          <a:ln w="6350">
            <a:solidFill>
              <a:srgbClr val="FDE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19" y="2514600"/>
            <a:ext cx="31363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B и 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19" y="2898648"/>
            <a:ext cx="3136392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Arial"/>
              </a:rPr>
              <a:t>B отвечает только за шум симуляции. Точность ограничена исходным n: новых данных бутстреп не создаёт.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120640"/>
            <a:ext cx="11094415" cy="50292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12064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Семинар, n = 60: бутстреп-интервал для медианы накрывает истину в 94 % случаев.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Где бутстреп ломается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92840" y="6400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34</a:t>
            </a:r>
          </a:p>
        </p:txBody>
      </p:sp>
      <p:pic>
        <p:nvPicPr>
          <p:cNvPr id="4" name="Picture 3" descr="05-bootstrap-m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6675120" cy="298189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498079" y="1280160"/>
            <a:ext cx="4142232" cy="1188720"/>
          </a:xfrm>
          <a:prstGeom prst="rect">
            <a:avLst/>
          </a:prstGeom>
          <a:solidFill>
            <a:srgbClr val="FDE9D3"/>
          </a:solidFill>
          <a:ln w="6350">
            <a:solidFill>
              <a:srgbClr val="FDE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79" y="1463039"/>
            <a:ext cx="3685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Максимум, минимум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26679" y="1847088"/>
            <a:ext cx="36850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Arial"/>
              </a:rPr>
              <a:t>max* ≤ max: в 63 % выборок max* = max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79" y="2606040"/>
            <a:ext cx="4142232" cy="1188720"/>
          </a:xfrm>
          <a:prstGeom prst="rect">
            <a:avLst/>
          </a:prstGeom>
          <a:solidFill>
            <a:srgbClr val="FDE9D3"/>
          </a:solidFill>
          <a:ln w="6350">
            <a:solidFill>
              <a:srgbClr val="FDE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79" y="2788920"/>
            <a:ext cx="3685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Зависимые данные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3172968"/>
            <a:ext cx="36850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Arial"/>
              </a:rPr>
              <a:t>выбирать блоки, пользователей, классы, а не отдельные строки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79" y="3931920"/>
            <a:ext cx="4142232" cy="118872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26679" y="4114800"/>
            <a:ext cx="3685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Тяжёлые хвосты, смещение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4498848"/>
            <a:ext cx="36850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Arial"/>
              </a:rPr>
              <a:t>DX = ∞ или смещённая выборка: бутстреп повторит ошибку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349240"/>
            <a:ext cx="11094415" cy="45720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34924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Бутстреп воспроизводит выборку со всеми её особенностями и не знает того, чего в ней нет.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sz="3600" b="1">
                <a:solidFill>
                  <a:srgbClr val="1F2937"/>
                </a:solidFill>
                <a:latin typeface="Arial"/>
              </a:rPr>
              <a:t>Когда ЗБЧ и ЦПТ подводят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79476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800" b="0">
                <a:solidFill>
                  <a:srgbClr val="6B7280"/>
                </a:solidFill>
                <a:latin typeface="Arial"/>
              </a:rPr>
              <a:t>Зависимость, тяжёлые хвосты, смещённые выборки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Зависимые наблюдения: данные стоят меньше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92840" y="6400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36</a:t>
            </a:r>
          </a:p>
        </p:txBody>
      </p:sp>
      <p:pic>
        <p:nvPicPr>
          <p:cNvPr id="4" name="Picture 3" descr="05-depen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6766560" cy="2986620"/>
          </a:xfrm>
          <a:prstGeom prst="rect">
            <a:avLst/>
          </a:prstGeom>
        </p:spPr>
      </p:pic>
      <p:pic>
        <p:nvPicPr>
          <p:cNvPr id="5" name="Picture 4" descr="f_5566577be55bf0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325880"/>
            <a:ext cx="2127504" cy="63703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589520" y="2286000"/>
            <a:ext cx="4050791" cy="2651760"/>
          </a:xfrm>
          <a:prstGeom prst="rect">
            <a:avLst/>
          </a:prstGeom>
          <a:solidFill>
            <a:srgbClr val="FDE9D3"/>
          </a:solidFill>
          <a:ln w="6350">
            <a:solidFill>
              <a:srgbClr val="FDE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2468880"/>
            <a:ext cx="359359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Ученики одного класса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852928"/>
            <a:ext cx="3593591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Arial"/>
              </a:rPr>
              <a:t>2 000 школьников из 40 классов: ответы одноклассников похожи.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Arial"/>
              </a:rPr>
              <a:t/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Arial"/>
              </a:rPr>
              <a:t>SE по ученикам занижена в разы. Считайте по классам: 40 средних или бутстреп по классам.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257800"/>
            <a:ext cx="11094415" cy="50292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25780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Временные ряды, сессии пользователя, ученики одного класса: s/√n недооценивает погрешность.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Тяжёлые хвосты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92840" y="6400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37</a:t>
            </a:r>
          </a:p>
        </p:txBody>
      </p:sp>
      <p:pic>
        <p:nvPicPr>
          <p:cNvPr id="4" name="Picture 3" descr="05-heavy-ta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6949440" cy="313406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726679" y="1280160"/>
            <a:ext cx="3913632" cy="160020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1463039"/>
            <a:ext cx="34564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EX = ∞ (Коши)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1847088"/>
            <a:ext cx="34564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Arial"/>
              </a:rPr>
              <a:t>среднее не сходится вообще</a:t>
            </a:r>
          </a:p>
        </p:txBody>
      </p:sp>
      <p:sp>
        <p:nvSpPr>
          <p:cNvPr id="8" name="Rectangle 7"/>
          <p:cNvSpPr/>
          <p:nvPr/>
        </p:nvSpPr>
        <p:spPr>
          <a:xfrm>
            <a:off x="7726679" y="3017520"/>
            <a:ext cx="3913632" cy="1920240"/>
          </a:xfrm>
          <a:prstGeom prst="rect">
            <a:avLst/>
          </a:prstGeom>
          <a:solidFill>
            <a:srgbClr val="FDE9D3"/>
          </a:solidFill>
          <a:ln w="6350">
            <a:solidFill>
              <a:srgbClr val="FDE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79" y="3200400"/>
            <a:ext cx="34564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EX &lt; ∞, DX = ∞ (Парето α ≤ 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3584448"/>
            <a:ext cx="3456432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Arial"/>
              </a:rPr>
              <a:t>ЗБЧ есть, но медленный; ЦПТ нет — средние остаются скошенными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257800"/>
            <a:ext cx="11094415" cy="50292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25780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Доходы, размеры файлов, подписчики, страховые убытки: смотрите медиану и квантили, логарифмируйте.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Не средние и смещённые выборки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92840" y="6400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38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5394960" cy="219456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3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Максимум — не сумма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47088"/>
            <a:ext cx="493776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Максимум n показательных растёт как ln n и сходится к распределению Гумбеля.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Пиковая нагрузка, «наводнение раз в 100 лет» — теория экстремальных значений.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5352" y="1280160"/>
            <a:ext cx="5394960" cy="2194560"/>
          </a:xfrm>
          <a:prstGeom prst="rect">
            <a:avLst/>
          </a:prstGeom>
          <a:solidFill>
            <a:srgbClr val="FDE9D3"/>
          </a:solidFill>
          <a:ln w="6350">
            <a:solidFill>
              <a:srgbClr val="FDE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146303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ЗБЧ сходится к «не тому»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3952" y="1847088"/>
            <a:ext cx="493776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Если выборка смещена, большое n даёт узкий интервал вокруг неверного ответа.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703320"/>
            <a:ext cx="11094415" cy="146304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88620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Literary Digest, 1936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27024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2,4 млн анкет читателей: Лэндон выиграет с отрывом 14 п. п. Итог: Рузвельт +24 п. п. Гэллап по случайной выборке ~50 000 человек угадал.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sz="3600" b="1">
                <a:solidFill>
                  <a:srgbClr val="1F2937"/>
                </a:solidFill>
                <a:latin typeface="Arial"/>
              </a:rPr>
              <a:t>ЗБЧ и ЦПТ в 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79476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800" b="0">
                <a:solidFill>
                  <a:srgbClr val="6B7280"/>
                </a:solidFill>
                <a:latin typeface="Arial"/>
              </a:rPr>
              <a:t>Где эти теоремы работают каждый день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Где это встречается в машинном обучении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92840" y="6400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40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5486400" cy="123444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3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Эмпирический риск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47088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Arial"/>
              </a:rPr>
              <a:t>средняя ошибка на обучении ≈ ожидаемая ошибка; тест из 1 000 объектов — точность ±1–2 п. п.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53912" y="1280160"/>
            <a:ext cx="5486400" cy="123444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146303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SGD и мини-батчи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82512" y="1847088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Arial"/>
              </a:rPr>
              <a:t>градиент по батчу — выборочное среднее: шум ∝ 1/√B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651760"/>
            <a:ext cx="5486400" cy="123444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8346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Бутстреп метрик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218688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Arial"/>
              </a:rPr>
              <a:t>погрешность ROC-AUC и F1 на тесте; бэггинг и out-of-bag в случайном лесе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3912" y="2651760"/>
            <a:ext cx="5486400" cy="123444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28346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Ансамбли, бэггинг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3218688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Arial"/>
              </a:rPr>
              <a:t>среднее слабо коррелированных моделей — меньше дисперсия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023360"/>
            <a:ext cx="5486400" cy="123444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2062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Монте-Карло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590288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Arial"/>
              </a:rPr>
              <a:t>ELBO в VAE, награда в RL, байесовские апостериорные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53912" y="4023360"/>
            <a:ext cx="5486400" cy="123444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2512" y="42062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Инициализация весов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4590288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Arial"/>
              </a:rPr>
              <a:t>предактивация Σ wᵢxᵢ почти нормальна → схемы Ксавье и Хе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Сквозной пример: какая модель лучше?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92840" y="6400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41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1F2937"/>
                </a:solidFill>
                <a:latin typeface="Arial"/>
              </a:rPr>
              <a:t>Тест из 2 000 объектов: модель A — точность 91,2 %, модель B — 90,6 %.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3566160" cy="228600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1031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SE точности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87168"/>
            <a:ext cx="310896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√(0,91·0,09/2000) ≈ 0,64 п. п.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Интервал A: 91,2 ± 1,25 %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79" y="1920240"/>
            <a:ext cx="3566160" cy="2286000"/>
          </a:xfrm>
          <a:prstGeom prst="rect">
            <a:avLst/>
          </a:prstGeom>
          <a:solidFill>
            <a:srgbClr val="FDE9D3"/>
          </a:solidFill>
          <a:ln w="6350">
            <a:solidFill>
              <a:srgbClr val="FDE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79" y="21031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Разница 0,6 п. п.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79" y="2487168"/>
            <a:ext cx="310896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меньше одной SE: по такому тесту сказать, что A лучше, нельзя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19" y="1920240"/>
            <a:ext cx="3593592" cy="228600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19" y="2103120"/>
            <a:ext cx="31363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Что делать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19" y="2487168"/>
            <a:ext cx="3136392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больше тестовых данных, парное сравнение на одних объектах, кросс-валидация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526280"/>
            <a:ext cx="11094415" cy="50292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52628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Любая метрика на конечной выборке — случайная величина. Сначала SE, потом выводы.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Итоги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92840" y="6400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42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09728" cy="457200"/>
          </a:xfrm>
          <a:prstGeom prst="rect">
            <a:avLst/>
          </a:prstGeom>
          <a:solidFill>
            <a:srgbClr val="3B82F6"/>
          </a:solidFill>
          <a:ln w="63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325880"/>
            <a:ext cx="1072865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F2937"/>
                </a:solidFill>
                <a:latin typeface="Arial"/>
              </a:rPr>
              <a:t>Статистика — случайная величина; её разброс — стандартная ошибка.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011680"/>
            <a:ext cx="109728" cy="457200"/>
          </a:xfrm>
          <a:prstGeom prst="rect">
            <a:avLst/>
          </a:prstGeom>
          <a:solidFill>
            <a:srgbClr val="3B82F6"/>
          </a:solidFill>
          <a:ln w="63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1072865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F2937"/>
                </a:solidFill>
                <a:latin typeface="Arial"/>
              </a:rPr>
              <a:t>ЗБЧ: среднее → EX, частота → вероятность; основа Монте-Карло. Отклонения разбавляются, а не компенсируются.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97480"/>
            <a:ext cx="109728" cy="457200"/>
          </a:xfrm>
          <a:prstGeom prst="rect">
            <a:avLst/>
          </a:prstGeom>
          <a:solidFill>
            <a:srgbClr val="3B82F6"/>
          </a:solidFill>
          <a:ln w="63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97480"/>
            <a:ext cx="1072865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F2937"/>
                </a:solidFill>
                <a:latin typeface="Arial"/>
              </a:rPr>
              <a:t>x̄, p̂, s², F̂ₙ — состоятельные оценки; SE ∝ 1/√n; SE любой статистики даёт бутстреп.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383280"/>
            <a:ext cx="109728" cy="457200"/>
          </a:xfrm>
          <a:prstGeom prst="rect">
            <a:avLst/>
          </a:prstGeom>
          <a:solidFill>
            <a:srgbClr val="3B82F6"/>
          </a:solidFill>
          <a:ln w="63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383280"/>
            <a:ext cx="1072865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F2937"/>
                </a:solidFill>
                <a:latin typeface="Arial"/>
              </a:rPr>
              <a:t>ЦПТ: сумма многих независимых слагаемых ≈ N(nμ, nσ²); Муавр — Лаплас с поправкой ±0,5.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069080"/>
            <a:ext cx="109728" cy="457200"/>
          </a:xfrm>
          <a:prstGeom prst="rect">
            <a:avLst/>
          </a:prstGeom>
          <a:solidFill>
            <a:srgbClr val="3B82F6"/>
          </a:solidFill>
          <a:ln w="63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069080"/>
            <a:ext cx="1072865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F2937"/>
                </a:solidFill>
                <a:latin typeface="Arial"/>
              </a:rPr>
              <a:t>Интервал x̄ ± 1,96·s/√n; объём n ≥ (zσ/ε)²; ±3 п. п. — около 1 000 человек.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754880"/>
            <a:ext cx="109728" cy="457200"/>
          </a:xfrm>
          <a:prstGeom prst="rect">
            <a:avLst/>
          </a:prstGeom>
          <a:solidFill>
            <a:srgbClr val="3B82F6"/>
          </a:solidFill>
          <a:ln w="63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754880"/>
            <a:ext cx="1072865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F2937"/>
                </a:solidFill>
                <a:latin typeface="Arial"/>
              </a:rPr>
              <a:t>Малые выборки дают крайние значения; зависимость и тяжёлые хвосты ломают формулы.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Литература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92840" y="6400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6B7280"/>
                </a:solidFill>
                <a:latin typeface="Arial"/>
              </a:rPr>
              <a:t>43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Гмурман В. Е. Теория вероятностей и математическая статистика — гл. 4, 9, 12, 15–16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Мёрфи К. П. Вероятностное машинное обучение: введение — разд. 2.8, 4.7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Дайзенрот М. П. и др. Математика для машинного обучения — разд. 6.4, 6.5, 8.2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Николенко С. и др. Глубокое обучение — SGD и мини-батчи, инициализация весов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Савелова Т. И. Метод Монте-Карло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Efron B., Tibshirani R. An Introduction to the Bootstrap, 1993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Wainer H. The Most Dangerous Equation // American Scientist, 2007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12064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6B7280"/>
                </a:solidFill>
                <a:latin typeface="Arial"/>
              </a:rPr>
              <a:t>Конспект с полными формулировками и доказательствами: 05_lln-clt-itmo.md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obability ITMO">
  <a:themeElements>
    <a:clrScheme name="Probability ITMO">
      <a:dk1>
        <a:srgbClr val="1F2937"/>
      </a:dk1>
      <a:lt1>
        <a:srgbClr val="FFFFFF"/>
      </a:lt1>
      <a:dk2>
        <a:srgbClr val="6B7280"/>
      </a:dk2>
      <a:lt2>
        <a:srgbClr val="F5F7FA"/>
      </a:lt2>
      <a:accent1>
        <a:srgbClr val="3B82F6"/>
      </a:accent1>
      <a:accent2>
        <a:srgbClr val="D6EEF8"/>
      </a:accent2>
      <a:accent3>
        <a:srgbClr val="F28C28"/>
      </a:accent3>
      <a:accent4>
        <a:srgbClr val="FDE9D3"/>
      </a:accent4>
      <a:accent5>
        <a:srgbClr val="E5E7EB"/>
      </a:accent5>
      <a:accent6>
        <a:srgbClr val="10B981"/>
      </a:accent6>
      <a:hlink>
        <a:srgbClr val="3B82F6"/>
      </a:hlink>
      <a:folHlink>
        <a:srgbClr val="6B7280"/>
      </a:folHlink>
    </a:clrScheme>
    <a:fontScheme name="Probability ITM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Лекция 3. Случайные величины и распределения</dc:title>
  <dc:subject>PptxGenJS Presentation</dc:subject>
  <dc:creator>Курс «Теория вероятностей», ИТМО</dc:creator>
  <cp:lastModifiedBy>Курс «Теория вероятностей», ИТМО</cp:lastModifiedBy>
  <cp:revision>1</cp:revision>
  <dcterms:created xsi:type="dcterms:W3CDTF">2026-10-14T12:57:15Z</dcterms:created>
  <dcterms:modified xsi:type="dcterms:W3CDTF">2026-10-14T12:57:15Z</dcterms:modified>
</cp:coreProperties>
</file>